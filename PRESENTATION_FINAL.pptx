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3864"/>
                </a:solidFill>
              </a:rPr>
              <a:t>Blood Glucose Forecasting —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E5496"/>
                </a:solidFill>
              </a:rPr>
              <a:t>University of Duisburg-Essen  |  Khalil &amp; Abeer  | 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Completed This Two-Week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Implemented 5th model: Transformer  (Vaswani et al. 2017)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Integrated Glucdict dataset  (13 users, Dexcom G6 + TicWatch)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Fixed critical OhioT1DM 2020 cohort loader bug  (empty XML placeholder)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Expanded Grid Search to all 5 models with literature justification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Documented training epochs  (early stopping — varies per model/patient)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Feature ablation:  2020 cohort (acceleration) + clean 2018 (no 563+575)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Leave-One-Patient-Out cross-validation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Cross-dataset transfer learning  (OhioT1DM → Glucdict)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Preprocessing comparison table vs. literature</a:t>
            </a:r>
          </a:p>
          <a:p>
            <a:pPr algn="l" indent="-114300" marL="228600">
              <a:buChar char="•"/>
            </a:pPr>
            <a:r>
              <a:rPr sz="1800">
                <a:solidFill>
                  <a:srgbClr val="000000"/>
                </a:solidFill>
              </a:rPr>
              <a:t>Detailed final experiments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Shared 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89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Folder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src/preprocessing/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Dataset-specific loaders  (OhioT1DM XML, Glucdict CSV, BIG IDEAs parquet)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src/models/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RF, LSTM, Autoencoder, TCN, Transformer  — identical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src/training/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Pipeline, Walk-Forward splits, Grid 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src/evaluation/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Metrics, Clarke Error Grid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experiments/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One notebook per dataset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864"/>
                </a:solidFill>
              </a:rPr>
              <a:t>All 5 models share identical train_model / evaluate interface.
Both datasets use the same pipeline, windowing, and evaluation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Grid Search: All 5 Models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Best parameters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76072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Parameters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Literature Justification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n_estimators=200, max_depth=10, min_samples_leaf=4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Probst et al. 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hidden_size=128, lr=5e-4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Kingma &amp; Ba 2015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latent_size=16, lr=5e-4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Srivastava et al. 2015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num_filters=32, lr=5e-4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Bai et al.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d_model=128, nhead=4, lr=5e-4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Vaswani et al. 2017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023360"/>
            <a:ext cx="11430000" cy="59436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</a:rPr>
              <a:t>Grid Search used Walk-Forward Validation  (TimeSeriesSplit, n_splits=3)  on patient 559 — Cerqueira et al.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54880"/>
            <a:ext cx="11430000" cy="1691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1F3864"/>
                </a:solidFill>
              </a:rPr>
              <a:t>RF — Probst et al. (2019): </a:t>
            </a:r>
            <a:r>
              <a:rPr sz="1100" b="0" i="1">
                <a:solidFill>
                  <a:srgbClr val="1F3864"/>
                </a:solidFill>
              </a:rPr>
              <a:t>"The number of trees is the most important hyperparameter... with min.node.size and mtry being the most important parameters after ntree."</a:t>
            </a:r>
          </a:p>
          <a:p>
            <a:pPr algn="l"/>
            <a:r>
              <a:rPr sz="1100" b="1">
                <a:solidFill>
                  <a:srgbClr val="1F3864"/>
                </a:solidFill>
              </a:rPr>
              <a:t>LSTM — Kingma &amp; Ba (2015): </a:t>
            </a:r>
            <a:r>
              <a:rPr sz="1100" b="0" i="1">
                <a:solidFill>
                  <a:srgbClr val="1F3864"/>
                </a:solidFill>
              </a:rPr>
              <a:t>"Good default settings for the tested machine learning problems are α = 0.001, β₁ = 0.9, β₂ = 0.999 and ε = 10⁻⁸."</a:t>
            </a:r>
          </a:p>
          <a:p>
            <a:pPr algn="l"/>
            <a:r>
              <a:rPr sz="1100" b="1">
                <a:solidFill>
                  <a:srgbClr val="1F3864"/>
                </a:solidFill>
              </a:rPr>
              <a:t>Autoencoder — Srivastava et al. (2015): </a:t>
            </a:r>
            <a:r>
              <a:rPr sz="1100" b="0" i="1">
                <a:solidFill>
                  <a:srgbClr val="1F3864"/>
                </a:solidFill>
              </a:rPr>
              <a:t>"The encoder LSTM reads the input sequence and maps it to a fixed-length vector representation. The decoder LSTM then generates the output sequence from this representation."</a:t>
            </a:r>
          </a:p>
          <a:p>
            <a:pPr algn="l"/>
            <a:r>
              <a:rPr sz="1100" b="1">
                <a:solidFill>
                  <a:srgbClr val="1F3864"/>
                </a:solidFill>
              </a:rPr>
              <a:t>TCN — Bai et al. (2018): </a:t>
            </a:r>
            <a:r>
              <a:rPr sz="1100" b="0" i="1">
                <a:solidFill>
                  <a:srgbClr val="1F3864"/>
                </a:solidFill>
              </a:rPr>
              <a:t>"We show that TCN outperforms canonical recurrent networks across a diverse range of tasks and datasets."</a:t>
            </a:r>
          </a:p>
          <a:p>
            <a:pPr algn="l"/>
            <a:r>
              <a:rPr sz="1100" b="1">
                <a:solidFill>
                  <a:srgbClr val="1F3864"/>
                </a:solidFill>
              </a:rPr>
              <a:t>Transformer — Vaswani et al. (2017): </a:t>
            </a:r>
            <a:r>
              <a:rPr sz="1100" b="0" i="1">
                <a:solidFill>
                  <a:srgbClr val="1F3864"/>
                </a:solidFill>
              </a:rPr>
              <a:t>"Multi-head attention allows the model to jointly attend to information from different representation subspaces at different positions."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OhioT1DM Main Results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5 models, 3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01752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5.87 ± 1.97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14.06 ± 4.14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23.35 ± 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6B3A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5.79 ± 1.49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12.60 ± 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21.25 ± 3.48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6B3A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6.41 ± 1.77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12.99 ± 2.57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21.45 ± 3.52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8.04 ± 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15.11 ± 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24.82 ± 3.65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8.47 ± 2.70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~14-15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23.01 ± 4.05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5496"/>
                </a:solidFill>
              </a:rPr>
              <a:t>All values in mg/dL. 12 patients, clinical features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617720"/>
            <a:ext cx="11430000" cy="123444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11155680" cy="10881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7F4F00"/>
                </a:solidFill>
              </a:rPr>
              <a:t>Why RMSE?</a:t>
            </a:r>
          </a:p>
          <a:p>
            <a:pPr algn="l"/>
            <a:r>
              <a:rPr sz="1200">
                <a:solidFill>
                  <a:srgbClr val="7F4F00"/>
                </a:solidFill>
              </a:rPr>
              <a:t>All values are RMSE (Root Mean Squared Error) in mg/dL. RMSE was chosen because: (1) it is the standard metric in all comparison papers (Kalita &amp; Mirza 2025, Xiong 2025, Rodríguez-Rodríguez 2024), enabling direct literature comparison; (2) it penalises large errors more heavily than MAE — clinically appropriate since a 40 mg/dL error is far more dangerous than four 10 mg/dL errors.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16752"/>
            <a:ext cx="11155680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F6B3A"/>
                </a:solidFill>
              </a:rPr>
              <a:t>Why highlighted green?</a:t>
            </a:r>
          </a:p>
          <a:p>
            <a:pPr algn="l"/>
            <a:r>
              <a:rPr sz="1200">
                <a:solidFill>
                  <a:srgbClr val="1F6B3A"/>
                </a:solidFill>
              </a:rPr>
              <a:t>LSTM and Autoencoder highlighted: lowest RMSE at 30-minute horizon — the most clinically relevant prediction window for insulin dosing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Epochs (Early Stopping)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Number of actual training epochs before early stopping triggered (patience=15, max_epochs=150). Lower = faster convergence.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20240"/>
                <a:gridCol w="1463040"/>
                <a:gridCol w="1463040"/>
                <a:gridCol w="146304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Mean epochs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Early stopping at patience=15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Longest — compression harder to optimise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19.6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Fast convergence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42.1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Fastest mean — attention converges quickly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566160"/>
            <a:ext cx="11430000" cy="77724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39312"/>
            <a:ext cx="1115568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>
                <a:solidFill>
                  <a:srgbClr val="1F3864"/>
                </a:solidFill>
              </a:rPr>
              <a:t>Epoch counts recorded per patient. Full results available after experiment re-run completes. Early stopping prevents overfitting — training stops when validation loss does not improve for 15 consecutive epochs.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11430000" cy="141732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507992"/>
            <a:ext cx="11155680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What the epoch counts tell us:</a:t>
            </a:r>
          </a:p>
          <a:p>
            <a:pPr algn="l"/>
            <a:r>
              <a:rPr sz="1100">
                <a:solidFill>
                  <a:srgbClr val="1F3864"/>
                </a:solidFill>
              </a:rPr>
              <a:t>Autoencoder takes most epochs (72.4 mean): the Seq2Seq architecture with autoregressive decoding is harder to optimise — the decoder must learn both to receive the latent vector and generate predictions one step at a time, requiring more gradient updates.
Transformer converges fastest on average (42.1) but has highest variance (std 24.3): attention converges quickly when patterns are clear, but struggles on patients with irregular glucose dynamics (range 16-97 reflects this).
TCN is most consistent (std 19.6): convolutional filters learn local patterns independently, less sensitive to patient-specific dynamics.
LSTM is in the middle (54.5 mean): sequential gating provides stable gradient flow, leading to moderate and consistent convergence.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5496"/>
                </a:solidFill>
              </a:rPr>
              <a:t>Early stopping reference: Prechelt (1998), 'Early Stopping — But When?', Neural Networks: Tricks of the Trade.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Clarke Error Grid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30-min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60350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Zone A 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Zone B 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87.4 ± 4.6%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87.1 ± 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86.4 ± 5.1%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84.7 ± 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81.1 ± 7.9%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← high variance — unreliable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069080"/>
            <a:ext cx="6035040" cy="155448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4F00"/>
                </a:solidFill>
              </a:rPr>
              <a:t>Clinical target: &gt; 95% Zone A.
Gap explained by 3-feature input only.
TCN high std deviation indicates inconsistency across
patients — clinically concerning.</a:t>
            </a:r>
          </a:p>
        </p:txBody>
      </p:sp>
      <p:pic>
        <p:nvPicPr>
          <p:cNvPr id="10" name="Picture 9" descr="clarke_30min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5303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Ablation: Wearable Features Consistently Hurt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OhioT1DM 2018
(6 patients, no 563+575)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3611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clinical: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21.69 / LSTM 20.51  ← best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glucose_only: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21.70 / LSTM 20.76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clinical_hr: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26.59 / LSTM 24.85  ← worse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full: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32.61 / LSTM 35.48  ← worst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234440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OhioT1DM 2020
(6 patients, acceleration)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3611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clinical: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25.00 / LSTM 22.04  ← best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clinical_accel: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30.55 / LSTM 28.85  ← worse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34440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</a:rPr>
              <a:t>Glucdict
(13 users)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74519"/>
            <a:ext cx="3611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glucose_only: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15.23 / LSTM 14.03  ← best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full_wearable:</a:t>
            </a:r>
          </a:p>
          <a:p>
            <a:pPr algn="l"/>
            <a:r>
              <a:rPr sz="1300" b="0">
                <a:solidFill>
                  <a:srgbClr val="000000"/>
                </a:solidFill>
              </a:rPr>
              <a:t>  RF 17.45 / LSTM 16.89  ← worse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892040"/>
            <a:ext cx="1152144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Across all 3 datasets and both cohorts: adding wearable signals consistently degrades 30-minute prediction.
The clinical minimum (glucose + insulin + carbs) is sufficient.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LOPO: Personalisation Barely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LOPO vs. Personalised  (30-min, OhioT1DM)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45920"/>
          <a:ext cx="60350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146304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Personalised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LOPO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23.35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22.81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-0.54 (improves!)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22.37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+1.17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675120" y="1234440"/>
            <a:ext cx="5120640" cy="411480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6B3A"/>
                </a:solidFill>
              </a:rPr>
              <a:t>What this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6B3A"/>
                </a:solidFill>
              </a:rPr>
              <a:t>A population model trained on 11 patients generalises almost as well as a personalised model for a new unseen patient.
RF actually improves with pooling — more data outweighs loss of patient-specificity.
Clinical implication: one deployed model could serve new patients without requiring 8 weeks of personalised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Transfer Learning: Domain Shift Costs ~1-2 mg/dL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73152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192024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Transfer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Personalised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16.67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15.23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+1.44 (+9%)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14.03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+1.92 (+14%)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063240"/>
            <a:ext cx="11430000" cy="137160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</a:rPr>
              <a:t>Trained on OhioT1DM  (T1DM, Medtronic Enlite CGM)
Tested zero-shot on Glucdict  (prediabetic, Dexcom G6 CGM)
Different population + different device = only +1-2 mg/dL penalty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17720"/>
            <a:ext cx="11430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Glucose autocorrelation is the dominant predictive signal regardless of patient population or device.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Glucdict: All 5 Models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glucose_only, 30-min horizon, 13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6400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6B3A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14.01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9.69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6B3A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14.03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3A"/>
                          </a:solidFill>
                        </a:rPr>
                        <a:t>9.77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14.09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9.73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15.23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</a:rPr>
                        <a:t>TCN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15.90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</a:rPr>
                        <a:t>11.47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040880" y="1463040"/>
            <a:ext cx="4754880" cy="274320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5544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6B3A"/>
                </a:solidFill>
              </a:rPr>
              <a:t>Transformer competitive with LSTM on Glucdict (unlike OhioT1DM).
Autoencoder best on BOTH datasets — consistent finding.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Literature Comparison</a:t>
            </a:r>
          </a:p>
          <a:p>
            <a:pPr algn="l"/>
            <a:r>
              <a:rPr sz="1400" b="0">
                <a:solidFill>
                  <a:srgbClr val="BFD7FF"/>
                </a:solidFill>
              </a:rPr>
              <a:t>30-min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300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94560"/>
                <a:gridCol w="219456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RMSE [mg/dL]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MHA-NBEATS  (Kalita &amp; Mirza 2025)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16.57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Rodríguez-Rodríguez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18.60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Xiong et al. 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19.33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LSTM  (this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21.25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Autoencoder  (this 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21.45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Transformer  (this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23.01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RF  (this 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23.35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6B3A"/>
                          </a:solidFill>
                        </a:rPr>
                        <a:t>TCN  (this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24.82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6B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828032"/>
            <a:ext cx="11430000" cy="1188720"/>
          </a:xfrm>
          <a:prstGeom prst="rect">
            <a:avLst/>
          </a:prstGeom>
          <a:solidFill>
            <a:srgbClr val="DF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901184"/>
            <a:ext cx="11155680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>
                <a:solidFill>
                  <a:srgbClr val="1F3864"/>
                </a:solidFill>
              </a:rPr>
              <a:t>Why 3 features? (1) Only glucose, insulin bolus, and carbohydrates are present for ALL 12 patients across both cohorts — the 2018 cohort has heart rate and steps while the 2020 cohort has acceleration instead. No single wearable feature is universal. (2) Using 3 features as the controlled baseline enables the ablation study (Slide 8) to isolate the contribution of each additional signal. (3) The ablation confirmed wearable features consistently degrade performance — the gap to literature is therefore architectural, not feature-driven.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80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864"/>
                </a:solidFill>
              </a:rPr>
              <a:t>Gap to literature explained by reduced feature set (3 vs. 6-7). Grid Search reduced our gap by ~3 mg/dL vs. defaults.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Preprocessing Comparison vs.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32004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Literature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Match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CGM resampling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5-min resample()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5-min 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Missing glucose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Drop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Mixed (drop/interp)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Missing sensor rows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Drop rows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Interpolate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✗ Gap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Event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NaN →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Normalization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Per-patient z-score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Per-patient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Train/test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Official OhioT1DM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</a:rPr>
                        <a:t>Walk-forward CV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n_splits=3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937760"/>
            <a:ext cx="11430000" cy="109728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0000"/>
                </a:solidFill>
              </a:rPr>
              <a:t>Main gap: we drop missing sensor rows instead of interpolating. Zhu et al. (2018) showed interpolation reduces RMSE by 2.1 mg/dL — planned for next iteration.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Three Scientific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22960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822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258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WEARABLE FEATURES CONSISTENTLY HURT AT 30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19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Observed across all 3 datasets and both cohorts.
Clinical minimum (glucose + insulin + carbs) is sufficient.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822960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822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PERSONALISATION IS NOT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LOPO gap: only +1.17 mg/dL.
Population model nearly as good as personalised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26280"/>
            <a:ext cx="822960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822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TRANSFER ACROSS POPULATIONS COSTS ONLY ~2 mg/dL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7492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T1DM → prediabetic, different device, zero retraining.
Glucose autocorrelation dominates regardless of domain.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Final Experiments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Blood Glucose Forecasting  |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56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37744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Experiment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</a:rPr>
                        <a:t>Longer window sizes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Planned week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</a:rPr>
                        <a:t>45/60-min horizons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Planned 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</a:rPr>
                        <a:t>BIG IDEAs all 5 models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Planned week 1 (Abeer)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</a:rPr>
                        <a:t>Unified Clarke 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Planned 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</a:rPr>
                        <a:t>Final report writing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</a:rPr>
                        <a:t>Planned week 2-3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