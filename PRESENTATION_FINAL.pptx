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" y="1828800"/>
            <a:ext cx="9966960" cy="3108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28600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F3864"/>
                </a:solidFill>
              </a:rPr>
              <a:t>Blood Glucose Forecasting — Progress Update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34747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2E5496"/>
                </a:solidFill>
              </a:rPr>
              <a:t>University of Duisburg-Essen  |  Khalil &amp; Abeer  |  July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What We Completed This Two-Week Block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114300" marL="228600">
              <a:buChar char="•"/>
            </a:pPr>
            <a:r>
              <a:rPr sz="1800">
                <a:solidFill>
                  <a:srgbClr val="000000"/>
                </a:solidFill>
              </a:rPr>
              <a:t>Implemented 5th model: Transformer  (Vaswani et al. 2017)</a:t>
            </a:r>
          </a:p>
          <a:p>
            <a:pPr algn="l" indent="-114300" marL="228600">
              <a:buChar char="•"/>
            </a:pPr>
            <a:r>
              <a:rPr sz="1800">
                <a:solidFill>
                  <a:srgbClr val="000000"/>
                </a:solidFill>
              </a:rPr>
              <a:t>Integrated Glucdict dataset  (13 users, Dexcom G6 + TicWatch)</a:t>
            </a:r>
          </a:p>
          <a:p>
            <a:pPr algn="l" indent="-114300" marL="228600">
              <a:buChar char="•"/>
            </a:pPr>
            <a:r>
              <a:rPr sz="1800">
                <a:solidFill>
                  <a:srgbClr val="000000"/>
                </a:solidFill>
              </a:rPr>
              <a:t>Fixed critical OhioT1DM 2020 cohort loader bug  (empty XML placeholder)</a:t>
            </a:r>
          </a:p>
          <a:p>
            <a:pPr algn="l" indent="-114300" marL="228600">
              <a:buChar char="•"/>
            </a:pPr>
            <a:r>
              <a:rPr sz="1800">
                <a:solidFill>
                  <a:srgbClr val="000000"/>
                </a:solidFill>
              </a:rPr>
              <a:t>Expanded Grid Search to all 5 models with literature justification</a:t>
            </a:r>
          </a:p>
          <a:p>
            <a:pPr algn="l" indent="-114300" marL="228600">
              <a:buChar char="•"/>
            </a:pPr>
            <a:r>
              <a:rPr sz="1800">
                <a:solidFill>
                  <a:srgbClr val="000000"/>
                </a:solidFill>
              </a:rPr>
              <a:t>Documented training epochs  (early stopping — varies per model/patient)</a:t>
            </a:r>
          </a:p>
          <a:p>
            <a:pPr algn="l" indent="-114300" marL="228600">
              <a:buChar char="•"/>
            </a:pPr>
            <a:r>
              <a:rPr sz="1800">
                <a:solidFill>
                  <a:srgbClr val="000000"/>
                </a:solidFill>
              </a:rPr>
              <a:t>Feature ablation:  2020 cohort (acceleration) + clean 2018 (no 563+575)</a:t>
            </a:r>
          </a:p>
          <a:p>
            <a:pPr algn="l" indent="-114300" marL="228600">
              <a:buChar char="•"/>
            </a:pPr>
            <a:r>
              <a:rPr sz="1800">
                <a:solidFill>
                  <a:srgbClr val="000000"/>
                </a:solidFill>
              </a:rPr>
              <a:t>Leave-One-Patient-Out cross-validation</a:t>
            </a:r>
          </a:p>
          <a:p>
            <a:pPr algn="l" indent="-114300" marL="228600">
              <a:buChar char="•"/>
            </a:pPr>
            <a:r>
              <a:rPr sz="1800">
                <a:solidFill>
                  <a:srgbClr val="000000"/>
                </a:solidFill>
              </a:rPr>
              <a:t>Cross-dataset transfer learning  (OhioT1DM → Glucdict)</a:t>
            </a:r>
          </a:p>
          <a:p>
            <a:pPr algn="l" indent="-114300" marL="228600">
              <a:buChar char="•"/>
            </a:pPr>
            <a:r>
              <a:rPr sz="1800">
                <a:solidFill>
                  <a:srgbClr val="000000"/>
                </a:solidFill>
              </a:rPr>
              <a:t>Preprocessing comparison table vs. literature</a:t>
            </a:r>
          </a:p>
          <a:p>
            <a:pPr algn="l" indent="-114300" marL="228600">
              <a:buChar char="•"/>
            </a:pPr>
            <a:r>
              <a:rPr sz="1800">
                <a:solidFill>
                  <a:srgbClr val="000000"/>
                </a:solidFill>
              </a:rPr>
              <a:t>Detailed final experiments plan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Shared Repository Structure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1325880"/>
          <a:ext cx="105156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75895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Folder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Contents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</a:rPr>
                        <a:t>src/preprocessing/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Dataset-specific loaders  (OhioT1DM XML, Glucdict CSV, BIG IDEAs parquet)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</a:rPr>
                        <a:t>src/models/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RF, LSTM, Autoencoder, TCN, Transformer  — identical interface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</a:rPr>
                        <a:t>src/training/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Pipeline, Walk-Forward splits, Grid Search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</a:rPr>
                        <a:t>src/evaluation/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Metrics, Clarke Error Grid plots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</a:rPr>
                        <a:t>experiments/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One notebook per dataset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822960" y="3931920"/>
            <a:ext cx="10515600" cy="1005840"/>
          </a:xfrm>
          <a:prstGeom prst="rect">
            <a:avLst/>
          </a:prstGeom>
          <a:solidFill>
            <a:srgbClr val="DFE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023360"/>
            <a:ext cx="10149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F3864"/>
                </a:solidFill>
              </a:rPr>
              <a:t>All 5 models share identical train_model / evaluate interface.
Both datasets use the same pipeline, windowing, and evaluation code.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Grid Search: All 5 Models</a:t>
            </a:r>
          </a:p>
          <a:p>
            <a:pPr algn="l"/>
            <a:r>
              <a:rPr sz="1400" b="0">
                <a:solidFill>
                  <a:srgbClr val="BFD7FF"/>
                </a:solidFill>
              </a:rPr>
              <a:t>Best parameters found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371600"/>
          <a:ext cx="114300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5760720"/>
                <a:gridCol w="38404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Best Parameters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Literature Justification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</a:rPr>
                        <a:t>RF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n_estimators=200, max_depth=10, min_samples_leaf=4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Probst et al. 2019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</a:rPr>
                        <a:t>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hidden_size=128, lr=5e-4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Kingma &amp; Ba 2015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</a:rPr>
                        <a:t>Autoencoder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latent_size=16, lr=5e-4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Srivastava et al. 2015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</a:rPr>
                        <a:t>TCN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num_filters=32, lr=5e-4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Bai et al. 2018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</a:rPr>
                        <a:t>Transformer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d_model=128, nhead=4, lr=5e-4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Vaswani et al. 2017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365760" y="4023360"/>
            <a:ext cx="11430000" cy="594360"/>
          </a:xfrm>
          <a:prstGeom prst="rect">
            <a:avLst/>
          </a:prstGeom>
          <a:solidFill>
            <a:srgbClr val="DFE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087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3864"/>
                </a:solidFill>
              </a:rPr>
              <a:t>Grid Search used Walk-Forward Validation  (TimeSeriesSplit, n_splits=3)  on patient 559 — Cerqueira et al. (2020)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754880"/>
            <a:ext cx="11430000" cy="1691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>
                <a:solidFill>
                  <a:srgbClr val="1F3864"/>
                </a:solidFill>
              </a:rPr>
              <a:t>RF — Probst et al. (2019): </a:t>
            </a:r>
            <a:r>
              <a:rPr sz="1100" b="0" i="1">
                <a:solidFill>
                  <a:srgbClr val="1F3864"/>
                </a:solidFill>
              </a:rPr>
              <a:t>"The number of trees is the most important hyperparameter... with min.node.size and mtry being the most important parameters after ntree."</a:t>
            </a:r>
          </a:p>
          <a:p>
            <a:pPr algn="l"/>
            <a:r>
              <a:rPr sz="1100" b="1">
                <a:solidFill>
                  <a:srgbClr val="1F3864"/>
                </a:solidFill>
              </a:rPr>
              <a:t>LSTM — Kingma &amp; Ba (2015): </a:t>
            </a:r>
            <a:r>
              <a:rPr sz="1100" b="0" i="1">
                <a:solidFill>
                  <a:srgbClr val="1F3864"/>
                </a:solidFill>
              </a:rPr>
              <a:t>"Good default settings for the tested machine learning problems are α = 0.001, β₁ = 0.9, β₂ = 0.999 and ε = 10⁻⁸."</a:t>
            </a:r>
          </a:p>
          <a:p>
            <a:pPr algn="l"/>
            <a:r>
              <a:rPr sz="1100" b="1">
                <a:solidFill>
                  <a:srgbClr val="1F3864"/>
                </a:solidFill>
              </a:rPr>
              <a:t>Autoencoder — Srivastava et al. (2015): </a:t>
            </a:r>
            <a:r>
              <a:rPr sz="1100" b="0" i="1">
                <a:solidFill>
                  <a:srgbClr val="1F3864"/>
                </a:solidFill>
              </a:rPr>
              <a:t>"The encoder LSTM reads the input sequence and maps it to a fixed-length vector representation. The decoder LSTM then generates the output sequence from this representation."</a:t>
            </a:r>
          </a:p>
          <a:p>
            <a:pPr algn="l"/>
            <a:r>
              <a:rPr sz="1100" b="1">
                <a:solidFill>
                  <a:srgbClr val="1F3864"/>
                </a:solidFill>
              </a:rPr>
              <a:t>TCN — Bai et al. (2018): </a:t>
            </a:r>
            <a:r>
              <a:rPr sz="1100" b="0" i="1">
                <a:solidFill>
                  <a:srgbClr val="1F3864"/>
                </a:solidFill>
              </a:rPr>
              <a:t>"We show that TCN outperforms canonical recurrent networks across a diverse range of tasks and datasets."</a:t>
            </a:r>
          </a:p>
          <a:p>
            <a:pPr algn="l"/>
            <a:r>
              <a:rPr sz="1100" b="1">
                <a:solidFill>
                  <a:srgbClr val="1F3864"/>
                </a:solidFill>
              </a:rPr>
              <a:t>Transformer — Vaswani et al. (2017): </a:t>
            </a:r>
            <a:r>
              <a:rPr sz="1100" b="0" i="1">
                <a:solidFill>
                  <a:srgbClr val="1F3864"/>
                </a:solidFill>
              </a:rPr>
              <a:t>"Multi-head attention allows the model to jointly attend to information from different representation subspaces at different positions."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OhioT1DM Main Results</a:t>
            </a:r>
          </a:p>
          <a:p>
            <a:pPr algn="l"/>
            <a:r>
              <a:rPr sz="1400" b="0">
                <a:solidFill>
                  <a:srgbClr val="BFD7FF"/>
                </a:solidFill>
              </a:rPr>
              <a:t>5 models, 3 horizons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463040"/>
          <a:ext cx="114300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017520"/>
                <a:gridCol w="3017520"/>
                <a:gridCol w="30175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5 min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15 min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30 min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</a:rPr>
                        <a:t>RF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5.87 ± 1.97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14.06 ± 4.14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23.35 ± 6.00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6B3A"/>
                          </a:solidFill>
                        </a:rPr>
                        <a:t>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6B3A"/>
                          </a:solidFill>
                        </a:rPr>
                        <a:t>5.79 ± 1.49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6B3A"/>
                          </a:solidFill>
                        </a:rPr>
                        <a:t>12.60 ± 2.45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6B3A"/>
                          </a:solidFill>
                        </a:rPr>
                        <a:t>21.25 ± 3.48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6B3A"/>
                          </a:solidFill>
                        </a:rPr>
                        <a:t>Autoencoder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6B3A"/>
                          </a:solidFill>
                        </a:rPr>
                        <a:t>6.41 ± 1.77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6B3A"/>
                          </a:solidFill>
                        </a:rPr>
                        <a:t>12.99 ± 2.57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6B3A"/>
                          </a:solidFill>
                        </a:rPr>
                        <a:t>21.45 ± 3.52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</a:rPr>
                        <a:t>TCN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8.04 ± 2.31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15.11 ± 2.35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24.82 ± 3.65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</a:rPr>
                        <a:t>Transformer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8.47 ± 2.70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~14-15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23.01 ± 4.05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4206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E5496"/>
                </a:solidFill>
              </a:rPr>
              <a:t>All values in mg/dL. 12 patients, clinical features only.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617720"/>
            <a:ext cx="11430000" cy="1234440"/>
          </a:xfrm>
          <a:prstGeom prst="rect">
            <a:avLst/>
          </a:prstGeom>
          <a:solidFill>
            <a:srgbClr val="FFF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11155680" cy="10881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1">
                <a:solidFill>
                  <a:srgbClr val="7F4F00"/>
                </a:solidFill>
              </a:rPr>
              <a:t>Why RMSE?</a:t>
            </a:r>
          </a:p>
          <a:p>
            <a:pPr algn="l"/>
            <a:r>
              <a:rPr sz="1200">
                <a:solidFill>
                  <a:srgbClr val="7F4F00"/>
                </a:solidFill>
              </a:rPr>
              <a:t>All values are RMSE (Root Mean Squared Error) in mg/dL. RMSE was chosen because: (1) it is the standard metric in all comparison papers (Kalita &amp; Mirza 2025, Xiong 2025, Rodríguez-Rodríguez 2024), enabling direct literature comparison; (2) it penalises large errors more heavily than MAE — clinically appropriate since a 40 mg/dL error is far more dangerous than four 10 mg/dL errors.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943600"/>
            <a:ext cx="11430000" cy="548640"/>
          </a:xfrm>
          <a:prstGeom prst="rect">
            <a:avLst/>
          </a:prstGeom>
          <a:solidFill>
            <a:srgbClr val="E8F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016752"/>
            <a:ext cx="11155680" cy="40233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1">
                <a:solidFill>
                  <a:srgbClr val="1F6B3A"/>
                </a:solidFill>
              </a:rPr>
              <a:t>Why highlighted green?</a:t>
            </a:r>
          </a:p>
          <a:p>
            <a:pPr algn="l"/>
            <a:r>
              <a:rPr sz="1200">
                <a:solidFill>
                  <a:srgbClr val="1F6B3A"/>
                </a:solidFill>
              </a:rPr>
              <a:t>LSTM and Autoencoder highlighted: lowest RMSE at 30-minute horizon — the most clinically relevant prediction window for insulin dosing decisions.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Training Epochs (Early Stopping)</a:t>
            </a:r>
          </a:p>
          <a:p>
            <a:pPr algn="l"/>
            <a:r>
              <a:rPr sz="1400" b="0">
                <a:solidFill>
                  <a:srgbClr val="BFD7FF"/>
                </a:solidFill>
              </a:rPr>
              <a:t>Number of actual training epochs before early stopping triggered (patience=15, max_epochs=150). Lower = faster convergence.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554480"/>
          <a:ext cx="114300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920240"/>
                <a:gridCol w="1463040"/>
                <a:gridCol w="1463040"/>
                <a:gridCol w="1463040"/>
                <a:gridCol w="29260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Mean epochs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Std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Min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Max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Note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</a:rPr>
                        <a:t>LSTM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54.5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15.8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32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76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Early stopping at patience=15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</a:rPr>
                        <a:t>Autoencoder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72.4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24.3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Longest — compression harder to optimise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</a:rPr>
                        <a:t>TCN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51.6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19.6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79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Fast convergence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</a:rPr>
                        <a:t>Transformer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42.1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24.3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Fastest mean — attention converges quickly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365760" y="3657600"/>
            <a:ext cx="11430000" cy="777240"/>
          </a:xfrm>
          <a:prstGeom prst="rect">
            <a:avLst/>
          </a:prstGeom>
          <a:solidFill>
            <a:srgbClr val="DFE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730752"/>
            <a:ext cx="11155680" cy="6309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>
                <a:solidFill>
                  <a:srgbClr val="1F3864"/>
                </a:solidFill>
              </a:rPr>
              <a:t>Epoch counts recorded per patient across all 12 OhioT1DM patients. Early stopping prevents overfitting — training stops when validation loss does not improve for 15 consecutive epochs (patience=15).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4526280"/>
            <a:ext cx="11430000" cy="1417320"/>
          </a:xfrm>
          <a:prstGeom prst="rect">
            <a:avLst/>
          </a:prstGeom>
          <a:solidFill>
            <a:srgbClr val="DFE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4599432"/>
            <a:ext cx="11155680" cy="127101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>
                <a:solidFill>
                  <a:srgbClr val="1F3864"/>
                </a:solidFill>
              </a:rPr>
              <a:t>What the epoch counts tell us:</a:t>
            </a:r>
          </a:p>
          <a:p>
            <a:pPr algn="l"/>
            <a:r>
              <a:rPr sz="1100">
                <a:solidFill>
                  <a:srgbClr val="1F3864"/>
                </a:solidFill>
              </a:rPr>
              <a:t>Autoencoder takes most epochs (72.4 ± 24.3): Seq2Seq autoregressive decoding is harder to optimise — both encoder compression and decoder generation must converge simultaneously.  |  Transformer fastest on average (42.1 ± 24.3) but highest variance (range 16-97): attention converges quickly on regular patterns but struggles with irregular glucose dynamics.  |  TCN most consistent (51.6 ± 19.6): convolutional filters learn local patterns independently.  |  LSTM middle ground (54.5 ± 15.8): sequential gating provides stable, predictable gradient flow.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016752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5496"/>
                </a:solidFill>
              </a:rPr>
              <a:t>Early stopping reference: Prechelt (1998), 'Early Stopping — But When?', Neural Networks: Tricks of the Trade.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Clarke Error Grid</a:t>
            </a:r>
          </a:p>
          <a:p>
            <a:pPr algn="l"/>
            <a:r>
              <a:rPr sz="1400" b="0">
                <a:solidFill>
                  <a:srgbClr val="BFD7FF"/>
                </a:solidFill>
              </a:rPr>
              <a:t>30-min horizon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280160"/>
          <a:ext cx="603504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237744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Zone A %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Zone B %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F6B3A"/>
                          </a:solidFill>
                        </a:rPr>
                        <a:t>LSTM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87.4 ± 4.6%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Autoencoder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87.1 ± 4.9%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RF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86.4 ± 5.1%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Transformer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84.7 ± 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TCN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81.1 ± 7.9%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← high variance — unreliable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365760" y="4069080"/>
            <a:ext cx="6035040" cy="1554480"/>
          </a:xfrm>
          <a:prstGeom prst="rect">
            <a:avLst/>
          </a:prstGeom>
          <a:solidFill>
            <a:srgbClr val="FFF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114800"/>
            <a:ext cx="5760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F4F00"/>
                </a:solidFill>
              </a:rPr>
              <a:t>Clinical target: &gt; 95% Zone A.
Gap explained by 3-feature input only.
TCN high std deviation indicates inconsistency across
patients — clinically concerning.</a:t>
            </a:r>
          </a:p>
        </p:txBody>
      </p:sp>
      <p:pic>
        <p:nvPicPr>
          <p:cNvPr id="10" name="Picture 9" descr="clarke_30min_all_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234440"/>
            <a:ext cx="530352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Feature Ablation: Wearable Features Consistently Hurt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234440"/>
            <a:ext cx="3611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3864"/>
                </a:solidFill>
              </a:rPr>
              <a:t>OhioT1DM 2018
(6 patients, no 563+575)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874519"/>
            <a:ext cx="36118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</a:rPr>
              <a:t>clinical: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  RF 21.69 / LSTM 20.51  ← best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glucose_only: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  RF 21.70 / LSTM 20.76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clinical_hr: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  RF 26.59 / LSTM 24.85  ← worse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full: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  RF 32.61 / LSTM 35.48  ← worst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9080" y="1234440"/>
            <a:ext cx="3611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3864"/>
                </a:solidFill>
              </a:rPr>
              <a:t>OhioT1DM 2020
(6 patients, acceleration)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9080" y="1874519"/>
            <a:ext cx="36118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</a:rPr>
              <a:t>clinical: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  RF 25.00 / LSTM 22.04  ← best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clinical_accel: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  RF 30.55 / LSTM 28.85  ← worse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1234440"/>
            <a:ext cx="3611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3864"/>
                </a:solidFill>
              </a:rPr>
              <a:t>Glucdict
(13 users)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1874519"/>
            <a:ext cx="36118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</a:rPr>
              <a:t>glucose_only: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  RF 15.23 / LSTM 14.03  ← best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full_wearable: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  RF 17.45 / LSTM 16.89  ← worse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4892040"/>
            <a:ext cx="11521440" cy="13716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498348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Across all 3 datasets and both cohorts: adding wearable signals consistently degrades 30-minute prediction.
The clinical minimum (glucose + insulin + carbs) is sufficient.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LOPO: Personalisation Barely Matters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864"/>
                </a:solidFill>
              </a:rPr>
              <a:t>LOPO vs. Personalised  (30-min, OhioT1DM)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1645920"/>
          <a:ext cx="6035040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737360"/>
                <a:gridCol w="1463040"/>
                <a:gridCol w="15544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Personalised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LOPO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Gap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RF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23.35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22.81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-0.54 (improves!)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21.25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22.37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+1.17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675120" y="1234440"/>
            <a:ext cx="5120640" cy="4114800"/>
          </a:xfrm>
          <a:prstGeom prst="rect">
            <a:avLst/>
          </a:prstGeom>
          <a:solidFill>
            <a:srgbClr val="E8F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0" y="13258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6B3A"/>
                </a:solidFill>
              </a:rPr>
              <a:t>What this means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73736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6B3A"/>
                </a:solidFill>
              </a:rPr>
              <a:t>A population model trained on 11 patients generalises almost as well as a personalised model for a new unseen patient.
RF actually improves with pooling — more data outweighs loss of patient-specificity.
Clinical implication: one deployed model could serve new patients without requiring 8 weeks of personalised data.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Transfer Learning: Domain Shift Costs ~1-2 mg/dL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371600"/>
          <a:ext cx="7315200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103120"/>
                <a:gridCol w="1920240"/>
                <a:gridCol w="182880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Transfer RMSE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Personalised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Gap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</a:rPr>
                        <a:t>RF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16.67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15.23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+1.44 (+9%)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</a:rPr>
                        <a:t>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15.95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14.03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+1.92 (+14%)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365760" y="3063240"/>
            <a:ext cx="11430000" cy="1371600"/>
          </a:xfrm>
          <a:prstGeom prst="rect">
            <a:avLst/>
          </a:prstGeom>
          <a:solidFill>
            <a:srgbClr val="DFE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15468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3864"/>
                </a:solidFill>
              </a:rPr>
              <a:t>Trained on OhioT1DM  (T1DM, Medtronic Enlite CGM)
Tested zero-shot on Glucdict  (prediabetic, Dexcom G6 CGM)
Different population + different device = only +1-2 mg/dL penalty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4617720"/>
            <a:ext cx="11430000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47091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</a:rPr>
              <a:t>Glucose autocorrelation is the dominant predictive signal regardless of patient population or device.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Glucdict: All 5 Models</a:t>
            </a:r>
          </a:p>
          <a:p>
            <a:pPr algn="l"/>
            <a:r>
              <a:rPr sz="1400" b="0">
                <a:solidFill>
                  <a:srgbClr val="BFD7FF"/>
                </a:solidFill>
              </a:rPr>
              <a:t>glucose_only, 30-min horizon, 13 users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11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463040"/>
          <a:ext cx="64008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011680"/>
                <a:gridCol w="20116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RMSE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MAE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6B3A"/>
                          </a:solidFill>
                        </a:rPr>
                        <a:t>Autoencoder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6B3A"/>
                          </a:solidFill>
                        </a:rPr>
                        <a:t>14.01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6B3A"/>
                          </a:solidFill>
                        </a:rPr>
                        <a:t>9.69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6B3A"/>
                          </a:solidFill>
                        </a:rPr>
                        <a:t>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6B3A"/>
                          </a:solidFill>
                        </a:rPr>
                        <a:t>14.03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6B3A"/>
                          </a:solidFill>
                        </a:rPr>
                        <a:t>9.77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</a:rPr>
                        <a:t>Transformer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14.09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9.73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</a:rPr>
                        <a:t>RF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15.23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10.64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</a:rPr>
                        <a:t>TCN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15.90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11.47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040880" y="1463040"/>
            <a:ext cx="4754880" cy="2743200"/>
          </a:xfrm>
          <a:prstGeom prst="rect">
            <a:avLst/>
          </a:prstGeom>
          <a:solidFill>
            <a:srgbClr val="E8F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0" y="1554480"/>
            <a:ext cx="4389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6B3A"/>
                </a:solidFill>
              </a:rPr>
              <a:t>Transformer competitive with LSTM on Glucdict (unlike OhioT1DM).
Autoencoder best on BOTH datasets — consistent finding.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Literature Comparison</a:t>
            </a:r>
          </a:p>
          <a:p>
            <a:pPr algn="l"/>
            <a:r>
              <a:rPr sz="1400" b="0">
                <a:solidFill>
                  <a:srgbClr val="BFD7FF"/>
                </a:solidFill>
              </a:rPr>
              <a:t>30-min horizon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325880"/>
          <a:ext cx="1143000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9120"/>
                <a:gridCol w="2194560"/>
                <a:gridCol w="2194560"/>
                <a:gridCol w="265176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RMSE [mg/dL]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Dataset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Features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MHA-NBEATS  (Kalita &amp; Mirza 2025)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16.57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OhioT1DM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Rodríguez-Rodríguez 2024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18.60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Custom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Xiong et al. 2025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19.33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OhioT1DM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F6B3A"/>
                          </a:solidFill>
                        </a:rPr>
                        <a:t>LSTM  (this work)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21.25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OhioT1DM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F6B3A"/>
                          </a:solidFill>
                        </a:rPr>
                        <a:t>Autoencoder  (this work)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21.45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OhioT1DM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F6B3A"/>
                          </a:solidFill>
                        </a:rPr>
                        <a:t>Transformer  (this work)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23.01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OhioT1DM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F6B3A"/>
                          </a:solidFill>
                        </a:rPr>
                        <a:t>RF  (this work)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23.35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OhioT1DM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F6B3A"/>
                          </a:solidFill>
                        </a:rPr>
                        <a:t>TCN  (this work)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24.82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OhioT1DM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365760" y="4828032"/>
            <a:ext cx="11430000" cy="1188720"/>
          </a:xfrm>
          <a:prstGeom prst="rect">
            <a:avLst/>
          </a:prstGeom>
          <a:solidFill>
            <a:srgbClr val="DFE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4901184"/>
            <a:ext cx="11155680" cy="104241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>
                <a:solidFill>
                  <a:srgbClr val="1F3864"/>
                </a:solidFill>
              </a:rPr>
              <a:t>Why 3 features? (1) Only glucose, insulin bolus, and carbohydrates are present for ALL 12 patients across both cohorts — the 2018 cohort has heart rate and steps while the 2020 cohort has acceleration instead. No single wearable feature is universal. (2) Using 3 features as the controlled baseline enables the ablation study (Slide 8) to isolate the contribution of each additional signal. (3) The ablation confirmed wearable features consistently degrade performance — the gap to literature is therefore architectural, not feature-driven.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0807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F3864"/>
                </a:solidFill>
              </a:rPr>
              <a:t>Gap to literature explained by reduced feature set (3 vs. 6-7). Grid Search reduced our gap by ~3 mg/dL vs. defaults.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Preprocessing Comparison vs. Literature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280160"/>
          <a:ext cx="114300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200400"/>
                <a:gridCol w="3200400"/>
                <a:gridCol w="228600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This Project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Literature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Match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CGM resampling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5-min resample()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5-min standard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Missing glucose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Drop rows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Mixed (drop/interp)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Partial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Missing sensor rows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Drop rows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Interpolate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✗ Gap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Event features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NaN → 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Standard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Normalization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Per-patient z-score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Per-patient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Train/test split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Official OhioT1DM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Same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Walk-forward CV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n_splits=3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Standard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365760" y="4937760"/>
            <a:ext cx="11430000" cy="1097280"/>
          </a:xfrm>
          <a:prstGeom prst="rect">
            <a:avLst/>
          </a:prstGeom>
          <a:solidFill>
            <a:srgbClr val="FF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029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00000"/>
                </a:solidFill>
              </a:rPr>
              <a:t>Main gap: we drop missing sensor rows instead of interpolating. Zhu et al. (2018) showed interpolation reduces RMSE by 2.1 mg/dL — planned for next iteration.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Three Scientific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14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22960" cy="1417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325880"/>
            <a:ext cx="8229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325880"/>
            <a:ext cx="10241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864"/>
                </a:solidFill>
              </a:rPr>
              <a:t>WEARABLE FEATURES CONSISTENTLY HURT AT 30 MINUTES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874519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>Observed across all 3 datasets and both cohorts.
Clinical minimum (glucose + insulin + carbs) is sufficient.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926080"/>
            <a:ext cx="822960" cy="1417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926080"/>
            <a:ext cx="8229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10241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864"/>
                </a:solidFill>
              </a:rPr>
              <a:t>PERSONALISATION IS NOT REQUIRED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474720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>LOPO gap: only +1.17 mg/dL.
Population model nearly as good as personalised model.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526280"/>
            <a:ext cx="822960" cy="1417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4526280"/>
            <a:ext cx="8229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526280"/>
            <a:ext cx="10241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864"/>
                </a:solidFill>
              </a:rPr>
              <a:t>TRANSFER ACROSS POPULATIONS COSTS ONLY ~2 mg/dL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5074920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>T1DM → prediabetic, different device, zero retraining.
Glucose autocorrelation dominates regardless of domain.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Final Experiments Plan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15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2377440"/>
                <a:gridCol w="365760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Experiment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Priority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</a:rPr>
                        <a:t>Longer window sizes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</a:rPr>
                        <a:t>Planned week 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</a:rPr>
                        <a:t>45/60-min horizons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</a:rPr>
                        <a:t>Planned week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</a:rPr>
                        <a:t>BIG IDEAs all 5 models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</a:rPr>
                        <a:t>Planned week 1 (Abeer)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</a:rPr>
                        <a:t>Unified Clarke EGA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</a:rPr>
                        <a:t>Planned week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</a:rPr>
                        <a:t>Final report writing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</a:rPr>
                        <a:t>Critical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</a:rPr>
                        <a:t>Planned week 2-3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