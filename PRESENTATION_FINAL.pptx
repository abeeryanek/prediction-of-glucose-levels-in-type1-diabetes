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2860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3864"/>
                </a:solidFill>
              </a:rPr>
              <a:t>Blood Glucose Forecasting - Progress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474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2E5496"/>
                </a:solidFill>
              </a:rPr>
              <a:t>University of Duisburg-Essen  |  Khalil &amp; Abeer  |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We Completed This Two-Week Block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14300" marL="228600">
              <a:buChar char="•"/>
            </a:pPr>
            <a:r>
              <a:rPr sz="1700">
                <a:solidFill>
                  <a:srgbClr val="000000"/>
                </a:solidFill>
              </a:rPr>
              <a:t>Implemented 5th model: Transformer  (Vaswani et al. 2017)</a:t>
            </a:r>
          </a:p>
          <a:p>
            <a:pPr algn="l" indent="-114300" marL="228600">
              <a:buChar char="•"/>
            </a:pPr>
            <a:r>
              <a:rPr sz="1700">
                <a:solidFill>
                  <a:srgbClr val="000000"/>
                </a:solidFill>
              </a:rPr>
              <a:t>Integrated Glucdict dataset  (13 users, Dexcom G6 + TicWatch)</a:t>
            </a:r>
          </a:p>
          <a:p>
            <a:pPr algn="l" indent="-114300" marL="228600">
              <a:buChar char="•"/>
            </a:pPr>
            <a:r>
              <a:rPr sz="1700">
                <a:solidFill>
                  <a:srgbClr val="000000"/>
                </a:solidFill>
              </a:rPr>
              <a:t>Fixed critical OhioT1DM 2020 cohort loader bug  (empty XML placeholder)</a:t>
            </a:r>
          </a:p>
          <a:p>
            <a:pPr algn="l" indent="-114300" marL="228600">
              <a:buChar char="•"/>
            </a:pPr>
            <a:r>
              <a:rPr sz="1700">
                <a:solidFill>
                  <a:srgbClr val="000000"/>
                </a:solidFill>
              </a:rPr>
              <a:t>Expanded Grid Search to all 5 models with literature justification</a:t>
            </a:r>
          </a:p>
          <a:p>
            <a:pPr algn="l" indent="-114300" marL="228600">
              <a:buChar char="•"/>
            </a:pPr>
            <a:r>
              <a:rPr sz="1700">
                <a:solidFill>
                  <a:srgbClr val="000000"/>
                </a:solidFill>
              </a:rPr>
              <a:t>Documented training epochs  (early stopping — varies per model/patient)</a:t>
            </a:r>
          </a:p>
          <a:p>
            <a:pPr algn="l" indent="-114300" marL="228600">
              <a:buChar char="•"/>
            </a:pPr>
            <a:r>
              <a:rPr sz="1700">
                <a:solidFill>
                  <a:srgbClr val="000000"/>
                </a:solidFill>
              </a:rPr>
              <a:t>Feature ablation:  2020 cohort (acceleration) + clean 2018 (no 563+575)</a:t>
            </a:r>
          </a:p>
          <a:p>
            <a:pPr algn="l" indent="-114300" marL="228600">
              <a:buChar char="•"/>
            </a:pPr>
            <a:r>
              <a:rPr sz="1700">
                <a:solidFill>
                  <a:srgbClr val="000000"/>
                </a:solidFill>
              </a:rPr>
              <a:t>Leave-One-Patient-Out cross-validation  (5 models, pooled + per-patient-scaled)</a:t>
            </a:r>
          </a:p>
          <a:p>
            <a:pPr algn="l" indent="-114300" marL="228600">
              <a:buChar char="•"/>
            </a:pPr>
            <a:r>
              <a:rPr sz="1700">
                <a:solidFill>
                  <a:srgbClr val="000000"/>
                </a:solidFill>
              </a:rPr>
              <a:t>Cross-dataset transfer learning  (OhioT1DM → Glucdict)</a:t>
            </a:r>
          </a:p>
          <a:p>
            <a:pPr algn="l" indent="-114300" marL="228600">
              <a:buChar char="•"/>
            </a:pPr>
            <a:r>
              <a:rPr sz="1700">
                <a:solidFill>
                  <a:srgbClr val="000000"/>
                </a:solidFill>
              </a:rPr>
              <a:t>Preprocessing comparison table vs. literature</a:t>
            </a:r>
          </a:p>
          <a:p>
            <a:pPr algn="l" indent="-114300" marL="228600">
              <a:buChar char="•"/>
            </a:pPr>
            <a:r>
              <a:rPr sz="1700">
                <a:solidFill>
                  <a:srgbClr val="000000"/>
                </a:solidFill>
              </a:rPr>
              <a:t>Unified Clarke Error Grid library across both pipelines  (15/30/45-min)</a:t>
            </a:r>
          </a:p>
          <a:p>
            <a:pPr algn="l" indent="-114300" marL="228600">
              <a:buChar char="•"/>
            </a:pPr>
            <a:r>
              <a:rPr sz="1700">
                <a:solidFill>
                  <a:srgbClr val="000000"/>
                </a:solidFill>
              </a:rPr>
              <a:t>Detailed final experiments 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Shared Repository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325880"/>
          <a:ext cx="10515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5895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Folder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Contents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src/preprocessing/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Dataset-specific loaders  (OhioT1DM XML, Glucdict CSV, BIG IDEAs parquet)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src/models/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RF, LSTM, Autoencoder, TCN, Transformer  — identical 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src/training/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Pipeline, Walk-Forward splits, Grid Search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src/evaluation/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Metrics, Clarke Error Grid plots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experiments/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One notebook per dataset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3931920"/>
            <a:ext cx="10515600" cy="100584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02336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3864"/>
                </a:solidFill>
              </a:rPr>
              <a:t>All 5 models share identical train_model / evaluate interface.
Both datasets use the same pipeline, windowing, and evaluation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Grid Search: All 5 Models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Best parameters 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1143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76072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Best Parameters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Literature Justification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n_estimators=200, max_depth=10, min_samples_leaf=4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Probst et al. 2019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hidden_size=128, lr=5e-4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Kingma &amp; Ba 2015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latent_size=16, lr=5e-4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Srivastava et al. 2015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num_filters=32, lr=5e-4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Bai et al. 2018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d_model=128, nhead=4, lr=5e-4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Vaswani et al. 2017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023360"/>
            <a:ext cx="11430000" cy="59436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087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3864"/>
                </a:solidFill>
              </a:rPr>
              <a:t>Grid Search used Walk-Forward Validation  (TimeSeriesSplit, n_splits=3)  on patient 559 — Cerqueira et al. (2020)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54880"/>
            <a:ext cx="11430000" cy="1691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>
                <a:solidFill>
                  <a:srgbClr val="1F3864"/>
                </a:solidFill>
              </a:rPr>
              <a:t>RF — Probst et al. (2019): </a:t>
            </a:r>
            <a:r>
              <a:rPr sz="1100" b="0" i="1">
                <a:solidFill>
                  <a:srgbClr val="1F3864"/>
                </a:solidFill>
              </a:rPr>
              <a:t>"The number of trees is the most important hyperparameter... with min.node.size and mtry being the most important parameters after ntree."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LSTM — Kingma &amp; Ba (2015): </a:t>
            </a:r>
            <a:r>
              <a:rPr sz="1100" b="0" i="1">
                <a:solidFill>
                  <a:srgbClr val="1F3864"/>
                </a:solidFill>
              </a:rPr>
              <a:t>"Good default settings for the tested machine learning problems are α = 0.001, β₁ = 0.9, β₂ = 0.999 and ε = 10⁻⁸."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Autoencoder — Srivastava et al. (2015): </a:t>
            </a:r>
            <a:r>
              <a:rPr sz="1100" b="0" i="1">
                <a:solidFill>
                  <a:srgbClr val="1F3864"/>
                </a:solidFill>
              </a:rPr>
              <a:t>"The encoder LSTM reads the input sequence and maps it to a fixed-length vector representation. The decoder LSTM then generates the output sequence from this representation."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TCN — Bai et al. (2018): </a:t>
            </a:r>
            <a:r>
              <a:rPr sz="1100" b="0" i="1">
                <a:solidFill>
                  <a:srgbClr val="1F3864"/>
                </a:solidFill>
              </a:rPr>
              <a:t>"We show that TCN outperforms canonical recurrent networks across a diverse range of tasks and datasets."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Transformer — Vaswani et al. (2017): </a:t>
            </a:r>
            <a:r>
              <a:rPr sz="1100" b="0" i="1">
                <a:solidFill>
                  <a:srgbClr val="1F3864"/>
                </a:solidFill>
              </a:rPr>
              <a:t>"Multi-head attention allows the model to jointly attend to information from different representation subspaces at different positions."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OhioT1DM Main Results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5 models, 3 horizons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3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017520"/>
                <a:gridCol w="3017520"/>
                <a:gridCol w="30175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5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5.87 ± 1.97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14.06 ± 4.14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23.35 ± 6.00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5.79 ± 1.49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12.60 ± 2.45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21.25 ± 3.48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6.41 ± 1.77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12.99 ± 2.57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21.45 ± 3.52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8.04 ± 2.31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15.11 ± 2.35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24.82 ± 3.65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8.47 ± 2.70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~14-15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23.01 ± 4.05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06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E5496"/>
                </a:solidFill>
              </a:rPr>
              <a:t>All values in mg/dL. 12 patients, clinical features only.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617720"/>
            <a:ext cx="11430000" cy="1234440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11155680" cy="10881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7F4F00"/>
                </a:solidFill>
              </a:rPr>
              <a:t>Why RMSE?</a:t>
            </a:r>
          </a:p>
          <a:p>
            <a:pPr algn="l"/>
            <a:r>
              <a:rPr sz="1200">
                <a:solidFill>
                  <a:srgbClr val="7F4F00"/>
                </a:solidFill>
              </a:rPr>
              <a:t>All values are RMSE (Root Mean Squared Error) in mg/dL. RMSE was chosen because: (1) it is the standard metric in all comparison papers (Kalita &amp; Mirza 2025, Bertachi et al. 2018, Rodríguez-Rodríguez et al. 2024), enabling direct literature comparison; (2) it penalises large errors more heavily than MAE — clinically appropriate since a 40 mg/dL error is far more dangerous than four 10 mg/dL errors.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943600"/>
            <a:ext cx="11430000" cy="548640"/>
          </a:xfrm>
          <a:prstGeom prst="rect">
            <a:avLst/>
          </a:prstGeom>
          <a:solidFill>
            <a:srgbClr val="E8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016752"/>
            <a:ext cx="11155680" cy="40233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1F6B3A"/>
                </a:solidFill>
              </a:rPr>
              <a:t>Why highlighted green?</a:t>
            </a:r>
          </a:p>
          <a:p>
            <a:pPr algn="l"/>
            <a:r>
              <a:rPr sz="1200">
                <a:solidFill>
                  <a:srgbClr val="1F6B3A"/>
                </a:solidFill>
              </a:rPr>
              <a:t>LSTM and Autoencoder highlighted: lowest RMSE at 30-minute horizon — the most clinically relevant prediction window for insulin dosing decisions.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Training Epochs (Early Stopping)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Number of actual training epochs before early stopping triggered (patience=15, max_epochs=150). Lower = faster convergence.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55448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920240"/>
                <a:gridCol w="1463040"/>
                <a:gridCol w="1463040"/>
                <a:gridCol w="1463040"/>
                <a:gridCol w="29260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Mean epochs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Max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54.5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15.8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Early stopping at patience=15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72.4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Longest — compression harder to optimise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51.6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19.6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Fast convergence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42.1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Fastest mean — attention converges quickly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3657600"/>
            <a:ext cx="11430000" cy="77724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730752"/>
            <a:ext cx="1115568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>
                <a:solidFill>
                  <a:srgbClr val="1F3864"/>
                </a:solidFill>
              </a:rPr>
              <a:t>Epoch counts recorded per patient across all 12 OhioT1DM patients. Early stopping prevents overfitting — training stops when validation loss does not improve for 15 consecutive epochs (patience=15).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526280"/>
            <a:ext cx="11430000" cy="141732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599432"/>
            <a:ext cx="11155680" cy="12710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1F3864"/>
                </a:solidFill>
              </a:rPr>
              <a:t>What the epoch counts tell us:</a:t>
            </a:r>
          </a:p>
          <a:p>
            <a:pPr algn="l"/>
            <a:r>
              <a:rPr sz="1100">
                <a:solidFill>
                  <a:srgbClr val="1F3864"/>
                </a:solidFill>
              </a:rPr>
              <a:t>Autoencoder takes most epochs (72.4 ± 24.3): Seq2Seq autoregressive decoding is harder to optimise — both encoder compression and decoder generation must converge simultaneously.  |  Transformer fastest on average (42.1 ± 24.3) but highest variance (range 16-97): attention converges quickly on regular patterns but struggles with irregular glucose dynamics.  |  TCN most consistent (51.6 ± 19.6): convolutional filters learn local patterns independently.  |  LSTM middle ground (54.5 ± 15.8): sequential gating provides stable, predictable gradient flow.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0167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5496"/>
                </a:solidFill>
              </a:rPr>
              <a:t>Early stopping reference: Prechelt (1998), 'Early Stopping — But When?', Neural Networks: Tricks of the Trade.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Clarke Error Grid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15 / 30 / 45-min horizons — Zone A %, all 5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64008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15-min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30-min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45-min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96.9%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87.0%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76.0%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96.3%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86.7%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76.2%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96.5%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86.4%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75.3%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95.2%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75.9%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93.5%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81.6%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69.9%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7490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5496"/>
                </a:solidFill>
              </a:rPr>
              <a:t>TCN lowest and highest-variance at every horizon (see Slide 6 std).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29844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5496"/>
                </a:solidFill>
              </a:rPr>
              <a:t>Generated directly by the clarke-error-grid library (v0.1.4, ceg.plot) — RF, 30-min horizon shown as a representative model.</a:t>
            </a:r>
          </a:p>
        </p:txBody>
      </p:sp>
      <p:pic>
        <p:nvPicPr>
          <p:cNvPr id="10" name="Picture 9" descr="clarke_30min_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83080"/>
            <a:ext cx="4297680" cy="42976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65760" y="4160520"/>
            <a:ext cx="6400800" cy="91440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233672"/>
            <a:ext cx="6126480" cy="7680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>
                <a:solidFill>
                  <a:srgbClr val="1F3864"/>
                </a:solidFill>
              </a:rPr>
              <a:t>Zone A % is now computed via the shared clarke-error-grid library (v0.1.4), unifying zone classification with Abeer's pipeline — both sides report identical Clarke zones from the same reference implementation.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166360"/>
            <a:ext cx="6400800" cy="1234440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239512"/>
            <a:ext cx="6126480" cy="10881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>
                <a:solidFill>
                  <a:srgbClr val="7F4F00"/>
                </a:solidFill>
              </a:rPr>
              <a:t>Clinical target: &gt; 95% Zone A — met only at the 15-min horizon.
Zone A falls from ~96% (15-min) to ~76% (45-min) for every model — the classic accuracy/lookahead tradeoff. Gap to the clinical target also reflects the reduced 3-feature input used throughout this work.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Feature Ablation: Wearable Features Do Not Improve Prediction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OhioT1DM 2018
(6 patients, no 563+575)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clinical: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21.69 / LSTM 20.51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glucose_only: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21.70 / LSTM 20.76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clinical_hr: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26.59 / LSTM 24.85  ← worse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full: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32.61 / LSTM 35.48  ← worst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OhioT1DM 2020
(6 patients, acceleration)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clinical: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25.00 / LSTM 22.04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clinical_accel: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30.55 / LSTM 28.85  ← worse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Glucdict
(13 users)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glucose_activity: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15.19 / LSTM 13.86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glucose_only: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15.23 / LSTM 14.03  ← ~tied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full_wearable: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17.45 / LSTM 16.89  ← worse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800600"/>
            <a:ext cx="11521440" cy="1554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8920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On OhioT1DM (both cohorts), wearable features degrade 30-minute prediction; on Glucdict, light activity is roughly tied with glucose-only.
The accurate claim: wearable features do not improve 30-minute prediction on any dataset — minimal features (glucose + clinical) are sufficient.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Best Feature Combination per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96012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017520"/>
                <a:gridCol w="182880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Best feature set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OhioT1DM 2018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clinical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21.33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20.22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OhioT1DM 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clinical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25.00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22.04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Glucdict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glucose_activity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15.19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13.86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931920"/>
            <a:ext cx="9601200" cy="1463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06908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Every model on every dataset achieves its best result with minimal features (glucose + clinical, or glucose + light activity).
No model benefits from the full wearable feature set.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LOPO: Personalisation Barely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</a:rPr>
              <a:t>LOPO: Personalised vs Population  (30-min RMSE, mg/dL)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645920"/>
          <a:ext cx="1143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2651760"/>
                <a:gridCol w="40233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Personalised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LOPO pooled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LOPO per-patient-scaled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21.49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22.45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22.21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21.59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22.46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22.22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22.38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22.83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22.74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23.34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22.81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22.75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F6B3A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6B3A"/>
                          </a:solidFill>
                        </a:rPr>
                        <a:t>24.13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6B3A"/>
                          </a:solidFill>
                        </a:rPr>
                        <a:t>29.09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6B3A"/>
                          </a:solidFill>
                        </a:rPr>
                        <a:t>24.65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1605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14300" marL="228600">
              <a:buChar char="•"/>
            </a:pPr>
            <a:r>
              <a:rPr sz="1500">
                <a:solidFill>
                  <a:srgbClr val="000000"/>
                </a:solidFill>
              </a:rPr>
              <a:t>Personalisation gap is small (0.3-1.2 mg/dL) across all 5 models, not just RF/LSTM — the effect generalises across architectures.</a:t>
            </a:r>
          </a:p>
          <a:p>
            <a:pPr algn="l" indent="-114300" marL="228600">
              <a:buChar char="•"/>
            </a:pPr>
            <a:r>
              <a:rPr sz="1500">
                <a:solidFill>
                  <a:srgbClr val="000000"/>
                </a:solidFill>
              </a:rPr>
              <a:t>Per-patient scaling consistently beats pooled — removing inter-patient baseline differences helps the population model.</a:t>
            </a:r>
          </a:p>
          <a:p>
            <a:pPr algn="l" indent="-114300" marL="228600">
              <a:buChar char="•"/>
            </a:pPr>
            <a:r>
              <a:rPr sz="1500">
                <a:solidFill>
                  <a:srgbClr val="000000"/>
                </a:solidFill>
              </a:rPr>
              <a:t>TCN is the exception: pooled gap is large (+5 mg/dL) but collapses to +0.5 mg/dL with per-patient scaling. TCN's poor generalisation was driven by inter-patient baseline glucose differences, not architecture.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Transfer Learning: Domain Shift Costs ~1-2 mg/dL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73152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03120"/>
                <a:gridCol w="192024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Transfer RMSE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Personalised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16.67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15.23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+1.44 (+9%)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15.95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14.03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+1.92 (+14%)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2606040"/>
            <a:ext cx="11430000" cy="960120"/>
          </a:xfrm>
          <a:prstGeom prst="rect">
            <a:avLst/>
          </a:prstGeom>
          <a:solidFill>
            <a:srgbClr val="E3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79192"/>
            <a:ext cx="11155680" cy="8138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1F3864"/>
                </a:solidFill>
              </a:rPr>
              <a:t>Definitions:</a:t>
            </a:r>
          </a:p>
          <a:p>
            <a:pPr algn="l"/>
            <a:r>
              <a:rPr sz="1200">
                <a:solidFill>
                  <a:srgbClr val="1F3864"/>
                </a:solidFill>
              </a:rPr>
              <a:t>'Personalised' = a model trained and tested on the same individual patient's own data  (the standard per-patient setup). Transfer = an OhioT1DM-trained model applied zero-shot to Glucdict users it never saw during training.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703320"/>
            <a:ext cx="11430000" cy="118872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3864"/>
                </a:solidFill>
              </a:rPr>
              <a:t>Trained on OhioT1DM  (T1DM, Medtronic Enlite CGM)
Tested zero-shot on Glucdict  (prediabetic, Dexcom G6 CGM)
Different population + different device = only +1-2 mg/dL penalty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5029200"/>
            <a:ext cx="11430000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Glucose autocorrelation is the dominant predictive signal regardless of patient population or device.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Glucdict: All 5 Models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glucose_only, 30-min horizon, 13 users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64008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14.01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9.69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14.03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9.77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14.09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9.73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10.64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11.47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040880" y="1463040"/>
            <a:ext cx="4754880" cy="2743200"/>
          </a:xfrm>
          <a:prstGeom prst="rect">
            <a:avLst/>
          </a:prstGeom>
          <a:solidFill>
            <a:srgbClr val="E8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0" y="155448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B3A"/>
                </a:solidFill>
              </a:rPr>
              <a:t>Transformer competitive with LSTM on Glucdict (unlike OhioT1DM).
Autoencoder best on BOTH datasets — consistent finding.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Literature Comparison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30-min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25880"/>
          <a:ext cx="114300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2194560"/>
                <a:gridCol w="2194560"/>
                <a:gridCol w="26517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RMSE [mg/dL]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MHA-NBEATS  (Kalita &amp; Mirza 2025)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16.57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Rodríguez-Rodríguez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18.60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Custom (40-pt DM1)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Bertachi et al. 2018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19.33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LSTM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Autoencoder  (this work)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21.45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Transformer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23.01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RF  (this work)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23.35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TCN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24.82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828032"/>
            <a:ext cx="11430000" cy="118872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901184"/>
            <a:ext cx="11155680" cy="10424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>
                <a:solidFill>
                  <a:srgbClr val="1F3864"/>
                </a:solidFill>
              </a:rPr>
              <a:t>Why 3 features? (1) Only glucose, insulin bolus, and carbohydrates are present for ALL 12 patients across both cohorts — the 2018 cohort has heart rate and steps while the 2020 cohort has acceleration instead. No single wearable feature is universal. (2) Using 3 features as the controlled baseline enables the ablation study (Slide 8) to isolate the contribution of each additional signal. (3) The ablation confirmed wearable features do not improve prediction — the gap to literature is therefore architectural, not feature-driven.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0807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3864"/>
                </a:solidFill>
              </a:rPr>
              <a:t>Gap to literature explained by reduced feature set (3 vs. 6-7). Grid Search reduced our gap by ~3 mg/dL vs. defaults.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Preprocessing Comparison vs. Literature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114300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3200400"/>
                <a:gridCol w="2286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This Project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Literature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Match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CGM resampling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5-min resample()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5-min standard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Missing glucose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Drop rows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Mixed (drop/interp)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Missing sensor 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Drop 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Interpolate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✗ Gap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Event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NaN →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Normalization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Per-patient z-score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Per-patient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Train/test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Official 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Walk-forward CV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n_splits=3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937760"/>
            <a:ext cx="11430000" cy="1097280"/>
          </a:xfrm>
          <a:prstGeom prst="rect">
            <a:avLst/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00000"/>
                </a:solidFill>
              </a:rPr>
              <a:t>Main gap: we drop missing sensor rows instead of interpolating. Zhu et al. (2018) showed interpolation reduces RMSE by 2.1 mg/dL — planned for next iteration.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Three Scientific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258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3258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WEARABLE FEATURES DO NOT IMPROVE 30-MIN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874519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Degrade prediction on OhioT1DM (both cohorts); roughly tied with glucose-only on Glucdict.
Minimal features (glucose + clinical) are sufficient — no dataset benefits from the full wearable set.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260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PERSONALISATION IS NOT REQUIRED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747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LOPO gap: only +1.17 mg/dL.
Population model nearly as good as personalised model.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5262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5262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5262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TRANSFER ACROSS POPULATIONS COSTS ONLY ~2 mg/dL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749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T1DM → prediabetic, different device, zero retraining.
Glucose autocorrelation dominates regardless of domain.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Final Experiments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377440"/>
                <a:gridCol w="36576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Experiment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Longer window sizes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45/60-min horizons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BIG IDEAs all 5 models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 (Abeer)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Unified Clarke EGA (15/30/45-min)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Final report writing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Critical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