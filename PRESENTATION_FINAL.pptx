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—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Leave-One-Patient-Out cross-validation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59436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87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RF — Probst et al. (2019): </a:t>
            </a:r>
            <a:r>
              <a:rPr sz="1100" b="0" i="1">
                <a:solidFill>
                  <a:srgbClr val="1F3864"/>
                </a:solidFill>
              </a:rPr>
              <a:t>"The number of trees is the most important hyperparameter... with min.node.size and mtry being the most important parameters after ntree."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LSTM — Kingma &amp; Ba (2015): </a:t>
            </a:r>
            <a:r>
              <a:rPr sz="1100" b="0" i="1">
                <a:solidFill>
                  <a:srgbClr val="1F3864"/>
                </a:solidFill>
              </a:rPr>
              <a:t>"Good default settings for the tested machine learning problems are α = 0.001, β₁ = 0.9, β₂ = 0.999 and ε = 10⁻⁸."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Autoencoder — Srivastava et al. (2015): </a:t>
            </a:r>
            <a:r>
              <a:rPr sz="1100" b="0" i="1">
                <a:solidFill>
                  <a:srgbClr val="1F3864"/>
                </a:solidFill>
              </a:rPr>
              <a:t>"The encoder LSTM reads the input sequence and maps it to a fixed-length vector representation. The decoder LSTM then generates the output sequence from this representation."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TCN — Bai et al. (2018): </a:t>
            </a:r>
            <a:r>
              <a:rPr sz="1100" b="0" i="1">
                <a:solidFill>
                  <a:srgbClr val="1F3864"/>
                </a:solidFill>
              </a:rPr>
              <a:t>"We show that TCN outperforms canonical recurrent networks across a diverse range of tasks and datasets."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Transformer — Vaswani et al. (2017): </a:t>
            </a:r>
            <a:r>
              <a:rPr sz="1100" b="0" i="1">
                <a:solidFill>
                  <a:srgbClr val="1F3864"/>
                </a:solidFill>
              </a:rPr>
              <a:t>"Multi-head attention allows the model to jointly attend to information from different representation subspaces at different positions."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17720"/>
            <a:ext cx="114300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111556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7F4F00"/>
                </a:solidFill>
              </a:rPr>
              <a:t>Why RMSE?</a:t>
            </a:r>
          </a:p>
          <a:p>
            <a:pPr algn="l"/>
            <a:r>
              <a:rPr sz="1200">
                <a:solidFill>
                  <a:srgbClr val="7F4F00"/>
                </a:solidFill>
              </a:rPr>
              <a:t>All values are RMSE (Root Mean Squared Error) in mg/dL. RMSE was chosen because: (1) it is the standard metric in all comparison papers (Kalita &amp; Mirza 2025, Xiong 2025, Rodríguez-Rodríguez 2024), enabling direct literature comparison; (2) it penalises large errors more heavily than MAE — clinically appropriate since a 40 mg/dL error is far more dangerous than four 10 mg/dL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55680" cy="402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6B3A"/>
                </a:solidFill>
              </a:rPr>
              <a:t>Why highlighted green?</a:t>
            </a:r>
          </a:p>
          <a:p>
            <a:pPr algn="l"/>
            <a:r>
              <a:rPr sz="1200">
                <a:solidFill>
                  <a:srgbClr val="1F6B3A"/>
                </a:solidFill>
              </a:rPr>
              <a:t>LSTM and Autoencoder highlighted: lowest RMSE at 30-minute horizon — the most clinically relevant prediction window for insulin dosing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Epochs (Early Stopping)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Number of actual training epochs before early stopping triggered (patience=15, max_epochs=150). Lower = faster convergence.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463040"/>
                <a:gridCol w="1463040"/>
                <a:gridCol w="146304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Mean epochs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Awaiting re-run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Awaiting re-run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Awaiting re-run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Awaiting re-run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49039"/>
            <a:ext cx="11430000" cy="9144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1155680" cy="7680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>
                <a:solidFill>
                  <a:srgbClr val="1F3864"/>
                </a:solidFill>
              </a:rPr>
              <a:t>Epoch counts recorded per patient. Full results available after experiment re-run completes. Early stopping prevents overfitting — training stops when validation loss does not improve for 15 consecutive epochs.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Early stopping reference: Prechelt (1998), 'Early Stopping — But When?', Neural Networks: Tricks of the Trade.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A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B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87.4 ± 4.6%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87.1 ± 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 ± 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84.7 ±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81.1 ± 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← high variance — unreliable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69080"/>
            <a:ext cx="6035040" cy="155448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4F00"/>
                </a:solidFill>
              </a:rPr>
              <a:t>Clinical target: &gt; 95% Zone A.
Gap explained by 3-feature input only.
TCN high std deviation indicates inconsistency across
patients — clinically concerning.</a:t>
            </a:r>
          </a:p>
        </p:txBody>
      </p:sp>
      <p:pic>
        <p:nvPicPr>
          <p:cNvPr id="10" name="Picture 9" descr="clarke_30min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34440"/>
            <a:ext cx="5303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Consistently Hurt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1152144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Across all 3 datasets and both cohorts: adding wearable signals consistently degrades 30-minute prediction.
The clinical minimum (glucose + insulin + carbs) is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</a:rPr>
              <a:t>LOPO vs. Personalised  (30-min, OhioT1DM)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603504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4630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LOPO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-0.54 (improves!)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+1.17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675120" y="1234440"/>
            <a:ext cx="5120640" cy="41148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A population model trained on 11 patients generalises almost as well as a personalised model for a new unseen patient.
RF actually improves with pooling — more data outweighs loss of patient-specificity.
Clinical implication: one deployed model could serve new patients without requiring 8 weeks of personalised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1772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Xiong et al. 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828032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901184"/>
            <a:ext cx="11155680" cy="10424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Why 3 features? (1) Only glucose, insulin bolus, and carbohydrates are present for ALL 12 patients across both cohorts — the 2018 cohort has heart rate and steps while the 2020 cohort has acceleration instead. No single wearable feature is universal. (2) Using 3 features as the controlled baseline enables the ablation study (Slide 8) to isolate the contribution of each additional signal. (3) The ablation confirmed wearable features consistently degrade performance — the gap to literature is therefore architectural, not feature-driven.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CONSISTENTLY HURT AT 30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Observed across all 3 datasets and both cohorts.
Clinical minimum (glucose + insulin + carbs) is sufficient.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