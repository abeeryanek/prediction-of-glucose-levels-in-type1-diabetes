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463040"/>
            <a:ext cx="9418320" cy="37490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737360"/>
            <a:ext cx="9052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F3864"/>
                </a:solidFill>
              </a:rPr>
              <a:t>Blood Glucose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606040"/>
            <a:ext cx="9052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E5496"/>
                </a:solidFill>
              </a:rPr>
              <a:t>Progress Update — Bachelor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246120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University of Duisburg-Essen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657600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Khalil &amp; Abeer  |  2026-07-11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Blood Glucose Forecasting  |  University of Duisburg-Essen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56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Overview</a:t>
            </a:r>
          </a:p>
          <a:p>
            <a:pPr algn="l"/>
            <a:r>
              <a:rPr sz="1400" b="0">
                <a:solidFill>
                  <a:srgbClr val="BFD7FF"/>
                </a:solidFill>
              </a:rPr>
              <a:t>What we did since the last meeting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Blood Glucose Forecasting  |  University of Duisburg-Essen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56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14300" marL="228600">
              <a:buChar char="•"/>
            </a:pPr>
            <a:r>
              <a:rPr sz="1700">
                <a:solidFill>
                  <a:srgbClr val="000000"/>
                </a:solidFill>
              </a:rPr>
              <a:t>Corrected the LSTM Autoencoder architecture  (Srivastava et al. 2015)</a:t>
            </a:r>
          </a:p>
          <a:p>
            <a:pPr algn="l" indent="-114300" marL="228600">
              <a:buChar char="•"/>
            </a:pPr>
            <a:r>
              <a:rPr sz="1700">
                <a:solidFill>
                  <a:srgbClr val="000000"/>
                </a:solidFill>
              </a:rPr>
              <a:t>Built a shared GitHub repository with unified src/ structure</a:t>
            </a:r>
          </a:p>
          <a:p>
            <a:pPr algn="l" indent="-114300" marL="228600">
              <a:buChar char="•"/>
            </a:pPr>
            <a:r>
              <a:rPr sz="1700">
                <a:solidFill>
                  <a:srgbClr val="000000"/>
                </a:solidFill>
              </a:rPr>
              <a:t>Replaced fixed 80/20 split with Walk-Forward Validation</a:t>
            </a:r>
          </a:p>
          <a:p>
            <a:pPr algn="l" indent="-114300" marL="228600">
              <a:buChar char="•"/>
            </a:pPr>
            <a:r>
              <a:rPr sz="1700">
                <a:solidFill>
                  <a:srgbClr val="000000"/>
                </a:solidFill>
              </a:rPr>
              <a:t>Added Grid Search with literature-justified parameter ranges</a:t>
            </a:r>
          </a:p>
          <a:p>
            <a:pPr algn="l" indent="-114300" marL="228600">
              <a:buChar char="•"/>
            </a:pPr>
            <a:r>
              <a:rPr sz="1700">
                <a:solidFill>
                  <a:srgbClr val="000000"/>
                </a:solidFill>
              </a:rPr>
              <a:t>Ran full benchmark:  5 models × 12 patients × 3 horizons  (added Transformer)</a:t>
            </a:r>
          </a:p>
          <a:p>
            <a:pPr algn="l" indent="-114300" marL="228600">
              <a:buChar char="•"/>
            </a:pPr>
            <a:r>
              <a:rPr sz="1700">
                <a:solidFill>
                  <a:srgbClr val="000000"/>
                </a:solidFill>
              </a:rPr>
              <a:t>Fixed a Random Forest bug (nested parallelism crashing on Windows)</a:t>
            </a:r>
          </a:p>
          <a:p>
            <a:pPr algn="l" indent="-114300" marL="228600">
              <a:buChar char="•"/>
            </a:pPr>
            <a:r>
              <a:rPr sz="1700">
                <a:solidFill>
                  <a:srgbClr val="000000"/>
                </a:solidFill>
              </a:rPr>
              <a:t>Re-ran feature ablation excluding patients 563/575  (professor's request)</a:t>
            </a:r>
          </a:p>
          <a:p>
            <a:pPr algn="l" indent="-114300" marL="228600">
              <a:buChar char="•"/>
            </a:pPr>
            <a:r>
              <a:rPr sz="1700">
                <a:solidFill>
                  <a:srgbClr val="000000"/>
                </a:solidFill>
              </a:rPr>
              <a:t>Extended Grid Search to Autoencoder, TCN, and Transformer</a:t>
            </a:r>
          </a:p>
          <a:p>
            <a:pPr algn="l" indent="-114300" marL="228600">
              <a:buChar char="•"/>
            </a:pPr>
            <a:r>
              <a:rPr sz="1700">
                <a:solidFill>
                  <a:srgbClr val="000000"/>
                </a:solidFill>
              </a:rPr>
              <a:t>Added Clarke Error Grid analysis for every feature combination</a:t>
            </a:r>
          </a:p>
          <a:p>
            <a:pPr algn="l" indent="-114300" marL="228600">
              <a:buChar char="•"/>
            </a:pPr>
            <a:r>
              <a:rPr sz="1700">
                <a:solidFill>
                  <a:srgbClr val="000000"/>
                </a:solidFill>
              </a:rPr>
              <a:t>New: Glucdict dataset pipeline  (13 patients)  — cross-dataset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Shared Repository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Blood Glucose Forecasting  |  University of Duisburg-Essen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56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325880"/>
          <a:ext cx="10515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5895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Folder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Contents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</a:rPr>
                        <a:t>src/preprocessing/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</a:rPr>
                        <a:t>Dataset-specific loaders  (OhioT1DM XML, BIG IDEAs parquet)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</a:rPr>
                        <a:t>src/models/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</a:rPr>
                        <a:t>RF, LSTM, Autoencoder, TCN  — identical 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</a:rPr>
                        <a:t>src/training/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</a:rPr>
                        <a:t>Pipeline, Walk-Forward splits, Grid Search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</a:rPr>
                        <a:t>src/evaluation/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</a:rPr>
                        <a:t>Metrics, Clarke Error Grid plots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</a:rPr>
                        <a:t>experiments/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</a:rPr>
                        <a:t>One notebook per dataset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Decision 1: Walk-Forward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Blood Glucose Forecasting  |  University of Duisburg-Essen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56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394960" cy="2103120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Fixed 80/20 chronological split.
One validation estimate — potentially biased by
the specific 20% period chosen.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577840" cy="2103120"/>
          </a:xfrm>
          <a:prstGeom prst="rect">
            <a:avLst/>
          </a:prstGeom>
          <a:solidFill>
            <a:srgbClr val="E8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B3A"/>
                </a:solidFill>
              </a:rP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Walk-Forward Validation  (TimeSeriesSplit, n_splits=3).
Each fold trains on the past, validates on the
immediately following period.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9202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F3864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566160"/>
            <a:ext cx="11430000" cy="685800"/>
          </a:xfrm>
          <a:prstGeom prst="rect">
            <a:avLst/>
          </a:prstGeom>
          <a:solidFill>
            <a:srgbClr val="DF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630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864"/>
                </a:solidFill>
              </a:rPr>
              <a:t>Justification:  Cerqueira et al. (2020), Bergmeir &amp; Benítez (2012) — walk-forward CV avoids future leakage and respects autocorrelation in CGM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Decision 2: Corrected Autoencoder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Blood Glucose Forecasting  |  University of Duisburg-Essen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56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11430000" cy="1463040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</a:rPr>
              <a:t>BEFORE  (wrong)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Encoder LSTM  →  bottleneck  →  linear layer prediction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80360"/>
            <a:ext cx="11430000" cy="2286000"/>
          </a:xfrm>
          <a:prstGeom prst="rect">
            <a:avLst/>
          </a:prstGeom>
          <a:solidFill>
            <a:srgbClr val="E8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B3A"/>
                </a:solidFill>
              </a:rPr>
              <a:t>AFTER  (correct — Srivastava et al. 2015)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3756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Encoder LSTM  →  bottleneck (64 → 32)  →  Decoder LSTM
   •  Decoder initialised from latent vector
   •  Autoregressive: each predicted step fed back as next input
   •  Output layer: Decoder hidden state  →  one glucose value per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303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</a:rPr>
              <a:t>Key difference:  the decoder is a full LSTM — not a linear layer.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Decision 3: Grid Search with Literature Justification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Blood Glucose Forecasting  |  University of Duisburg-Essen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56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</a:rPr>
              <a:t>Random Forest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600200"/>
          <a:ext cx="566928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828800"/>
                <a:gridCol w="19202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Values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</a:rPr>
                        <a:t>n_estimators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[50, 100, 200]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Probst et al. (2019)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</a:rPr>
                        <a:t>max_depth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[10, 15, 20]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Biau &amp; Scornet (2016)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</a:rPr>
                        <a:t>min_samples_leaf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[1, 2, 4]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Probst et al. (2019)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</a:rPr>
              <a:t>LSTM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09360" y="1600200"/>
          <a:ext cx="548640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20116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Values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</a:rPr>
                        <a:t>hidden_size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[32, 64, 128]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Kalita &amp; Mirza (2025)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</a:rPr>
                        <a:t>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[0.001, 0.0005]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Kingma &amp; Ba (2015)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65760" y="3749039"/>
            <a:ext cx="11430000" cy="1005840"/>
          </a:xfrm>
          <a:prstGeom prst="rect">
            <a:avLst/>
          </a:prstGeom>
          <a:solidFill>
            <a:srgbClr val="DF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822191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3864"/>
                </a:solidFill>
              </a:rPr>
              <a:t>Best found:
  RF:    n_estimators=200,  max_depth=10,  min_samples_leaf=4
  LSTM:  hidden_size=128,   lr=0.0005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Decision 3b: Grid Search Extended to All 5 Models</a:t>
            </a:r>
          </a:p>
          <a:p>
            <a:pPr algn="l"/>
            <a:r>
              <a:rPr sz="1400" b="0">
                <a:solidFill>
                  <a:srgbClr val="BFD7FF"/>
                </a:solidFill>
              </a:rPr>
              <a:t>Autoencoder, TCN, Transformer — previously untuned / hardcoded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Blood Glucose Forecasting  |  University of Duisburg-Essen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56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496"/>
                </a:solidFill>
              </a:rPr>
              <a:t>Same validation-set search strategy as LSTM: architecture width × learning rate, on patient 559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645920"/>
          <a:ext cx="114300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03120"/>
                <a:gridCol w="2560320"/>
                <a:gridCol w="43891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Values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</a:rPr>
                        <a:t>Autoencoder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latent_size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[16, 32, 64]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Srivastava et al. (2015) — bottleneck sizing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[0.001, 0.0005]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Kingma &amp; Ba (2015)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</a:rPr>
                        <a:t>TCN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num_filters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[32, 64, 128]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Bai et al. (2018) — TCN capacity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[0.001, 0.0005]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Kingma &amp; Ba (2015)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</a:rPr>
                        <a:t>Transformer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d_model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[32, 64, 128]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Vaswani et al. (2017), nhead=4 fixed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[0.001, 0.0005]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Kingma &amp; Ba (2015)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65760" y="4709160"/>
            <a:ext cx="11430000" cy="1463040"/>
          </a:xfrm>
          <a:prstGeom prst="rect">
            <a:avLst/>
          </a:prstGeom>
          <a:solidFill>
            <a:srgbClr val="DF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773168"/>
            <a:ext cx="10972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3864"/>
                </a:solidFill>
              </a:rPr>
              <a:t>Best found:
  Autoencoder:  latent_size=16,  lr=0.0005
  TCN:          num_filters=32,  lr=0.0005
  Transformer:  d_model=128,  nhead=4,  lr=0.0005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Main Results</a:t>
            </a:r>
          </a:p>
          <a:p>
            <a:pPr algn="l"/>
            <a:r>
              <a:rPr sz="1400" b="0">
                <a:solidFill>
                  <a:srgbClr val="BFD7FF"/>
                </a:solidFill>
              </a:rPr>
              <a:t>OhioT1DM  |  Clinical features (glucose, bolus, carbs)  |  12 patients  |  all 5 models tuned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Blood Glucose Forecasting  |  University of Duisburg-Essen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56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5496"/>
                </a:solidFill>
              </a:rPr>
              <a:t>RMSE [mg/dL]  mean ± std  across 12 patients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554480"/>
          <a:ext cx="114300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11680"/>
                <a:gridCol w="2011680"/>
                <a:gridCol w="2011680"/>
                <a:gridCol w="2011680"/>
                <a:gridCol w="19202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Horizon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LSTM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Autoencoder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TCN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Transformer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</a:rPr>
                        <a:t>5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5.87 ± 1.97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6B3A"/>
                          </a:solidFill>
                        </a:rPr>
                        <a:t>5.76 ± 1.42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6.37 ± 1.67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8.24 ± 2.46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8.51 ± 3.43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14.06 ± 4.14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6B3A"/>
                          </a:solidFill>
                        </a:rPr>
                        <a:t>12.62 ± 2.45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12.91 ± 2.47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14.67 ± 2.22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14.12 ± 3.28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</a:rPr>
                        <a:t>30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23.35 ± 6.00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6B3A"/>
                          </a:solidFill>
                        </a:rPr>
                        <a:t>21.21 ± 3.48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21.41 ± 3.49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24.29 ± 3.73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22.91 ± 4.54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4023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3864"/>
                </a:solidFill>
              </a:rPr>
              <a:t>Model hierarchy at 30 min:   LSTM ≈ Autoencoder  &gt;  Transformer  &gt;  RF  &gt;  TCN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526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E5496"/>
                </a:solidFill>
              </a:rPr>
              <a:t>All 5 models now use tuned hyperparameters (previously only RF/LSTM were grid-searched).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Feature Ablation — Clean Cohort</a:t>
            </a:r>
          </a:p>
          <a:p>
            <a:pPr algn="l"/>
            <a:r>
              <a:rPr sz="1400" b="0">
                <a:solidFill>
                  <a:srgbClr val="BFD7FF"/>
                </a:solidFill>
              </a:rPr>
              <a:t>2018 Cohort, excl. patients 563/575 (professor's request)  |  30-min horizon  |  RF and LSTM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Blood Glucose Forecasting  |  University of Duisburg-Essen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56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496"/>
                </a:solidFill>
              </a:rPr>
              <a:t>30-min RMSE [mg/dL]  —  mean ± std across 4 patients  (★ = best)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554480"/>
          <a:ext cx="731520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377440"/>
                <a:gridCol w="23774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Feature Set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RF RMSE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LSTM RMSE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glucose_only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21.36 ± 2.29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20.54 ± 2.80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6B3A"/>
                          </a:solidFill>
                        </a:rPr>
                        <a:t>clinical 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6B3A"/>
                          </a:solidFill>
                        </a:rPr>
                        <a:t>21.33 ± 2.27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6B3A"/>
                          </a:solidFill>
                        </a:rPr>
                        <a:t>20.22 ± 2.76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glucose_steps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24.03 ± 4.78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21.37 ± 4.65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clinical_steps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24.03 ± 4.78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21.24 ± 4.38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clinical_hr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24.83 ± 2.48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23.61 ± 2.68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glucose_hr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24.84 ± 2.51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24.91 ± 3.69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full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32.61 ± 12.90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35.37 ± 18.81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wearable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32.74 ± 13.08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33.75 ± 16.61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63840" y="1554480"/>
            <a:ext cx="3931920" cy="4572000"/>
          </a:xfrm>
          <a:prstGeom prst="rect">
            <a:avLst/>
          </a:prstGeom>
          <a:solidFill>
            <a:srgbClr val="E8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64592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6B3A"/>
                </a:solidFill>
              </a:rPr>
              <a:t>Clean re-run
Excluding 563/575 removes the sparse-wristband
distortion from the earlier run.
glucose_only ≈ clinical  — bolus/carbs add
essentially nothing.
full / wearable are consistently worst AND
highest-variance — extra sensors hurt, not help,
at the 30-min horizon.
Also fixed: RF nested-parallelism bug that was
silently dropping patients from some runs.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Cross-Dataset Check: Glucdict</a:t>
            </a:r>
          </a:p>
          <a:p>
            <a:pPr algn="l"/>
            <a:r>
              <a:rPr sz="1400" b="0">
                <a:solidFill>
                  <a:srgbClr val="BFD7FF"/>
                </a:solidFill>
              </a:rPr>
              <a:t>13 patients  |  Dexcom G6 + TicWatch HR + accelerometer + meal events  |  30-min horizon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Blood Glucose Forecasting  |  University of Duisburg-Essen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56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496"/>
                </a:solidFill>
              </a:rPr>
              <a:t>30-min RMSE [mg/dL]  —  mean ± std  (N = patients with valid data for that feature set)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554480"/>
          <a:ext cx="6400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22960"/>
                <a:gridCol w="1600200"/>
                <a:gridCol w="16002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Feature Set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RF RMSE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LSTM RMSE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6B3A"/>
                          </a:solidFill>
                        </a:rPr>
                        <a:t>glucose_only  ★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6B3A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6B3A"/>
                          </a:solidFill>
                        </a:rPr>
                        <a:t>15.23 ± 2.26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6B3A"/>
                          </a:solidFill>
                        </a:rPr>
                        <a:t>13.98 ± 1.81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</a:rPr>
                        <a:t>glucose_activity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15.19 ± 2.21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13.97 ± 1.75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</a:rPr>
                        <a:t>glucose_hr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17.89 ± 9.90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17.17 ± 8.77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</a:rPr>
                        <a:t>full_wearable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17.28 ± 8.87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17.61 ± 9.43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040880" y="1554480"/>
            <a:ext cx="4754880" cy="3840480"/>
          </a:xfrm>
          <a:prstGeom prst="rect">
            <a:avLst/>
          </a:prstGeom>
          <a:solidFill>
            <a:srgbClr val="E8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64592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6B3A"/>
                </a:solidFill>
              </a:rPr>
              <a:t>Same pattern as OhioT1DM:
glucose_only ≈ glucose_activity — meal/drink
events add nothing.
glucose_hr / full_wearable are worse AND lose
3 patients (User3/13/15 — no heart-rate
coverage in their test-period tail, likely watch
battery dropout, not a bug).
Confirms the OhioT1DM finding on an independent
dataset: extra wearable sensors don't improve
30-min forecasts.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577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E5496"/>
                </a:solidFill>
              </a:rPr>
              <a:t>RF/LSTM hyperparameters reused from the OhioT1DM grid search — no Glucdict-specific tuning yet.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Clarke Error Grid</a:t>
            </a:r>
          </a:p>
          <a:p>
            <a:pPr algn="l"/>
            <a:r>
              <a:rPr sz="1400" b="0">
                <a:solidFill>
                  <a:srgbClr val="BFD7FF"/>
                </a:solidFill>
              </a:rPr>
              <a:t>30-min horizon  |  all 12 patients pooled  |  all 5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Blood Glucose Forecasting  |  University of Duisburg-Essen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56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80160"/>
          <a:ext cx="60350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Zone A  (mean ± std)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Zone B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6B3A"/>
                          </a:solidFill>
                        </a:rPr>
                        <a:t>LSTM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6B3A"/>
                          </a:solidFill>
                        </a:rPr>
                        <a:t>87.3% ± 5.0%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6B3A"/>
                          </a:solidFill>
                        </a:rPr>
                        <a:t>12.4%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</a:rPr>
                        <a:t>Autoencoder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87.0% ± 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12.7%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</a:rPr>
                        <a:t>Transformer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85.0% ± 7.0%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14.7%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</a:rPr>
                        <a:t>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86.4% ± 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13.1%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</a:rPr>
                        <a:t>TCN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81.0% ± 8.5%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18.7%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4069080"/>
            <a:ext cx="6035040" cy="1280160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4F00"/>
                </a:solidFill>
              </a:rPr>
              <a:t>Target: &gt; 95% Zone A
Gap explained by 3-feature input only.
TCN variance (8.5%) — inconsistent across patients.</a:t>
            </a:r>
          </a:p>
        </p:txBody>
      </p:sp>
      <p:pic>
        <p:nvPicPr>
          <p:cNvPr id="10" name="Picture 9" descr="clarke_30min_all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23444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Clarke Error Grid — Every Feature Combination</a:t>
            </a:r>
          </a:p>
          <a:p>
            <a:pPr algn="l"/>
            <a:r>
              <a:rPr sz="1400" b="0">
                <a:solidFill>
                  <a:srgbClr val="BFD7FF"/>
                </a:solidFill>
              </a:rPr>
              <a:t>LSTM, 30-min horizon, predictions pooled across patients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Blood Glucose Forecasting  |  University of Duisburg-Essen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56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</a:rPr>
              <a:t>OhioT1DM clean cohort (4 patients, 8 feature sets):</a:t>
            </a:r>
          </a:p>
        </p:txBody>
      </p:sp>
      <p:pic>
        <p:nvPicPr>
          <p:cNvPr id="8" name="Picture 7" descr="clarke_ablation_clean_all_feature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11430000" cy="2788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4434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4F00"/>
                </a:solidFill>
              </a:rPr>
              <a:t>Zone A drops from 88.6% (clinical) to 75.6% (full/wearable) — with 1.5% landing in dangerous Zone D once heartrate/steps are added.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Literature Comparison</a:t>
            </a:r>
          </a:p>
          <a:p>
            <a:pPr algn="l"/>
            <a:r>
              <a:rPr sz="1400" b="0">
                <a:solidFill>
                  <a:srgbClr val="BFD7FF"/>
                </a:solidFill>
              </a:rPr>
              <a:t>30-min horizon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Blood Glucose Forecasting  |  University of Duisburg-Essen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56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2194560"/>
                <a:gridCol w="2194560"/>
                <a:gridCol w="24688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RMSE [mg/dL]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Features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</a:rPr>
                        <a:t>MHA-NBEATS  (Kalita &amp; Mirza 2025)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16.57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OhioT1DM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5–6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</a:rPr>
                        <a:t>Rodríguez-Rodríguez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18.60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OhioT1DM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5–6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</a:rPr>
                        <a:t>Xiong et al.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19.33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OhioT1DM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5–6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6B3A"/>
                          </a:solidFill>
                        </a:rPr>
                        <a:t>Our 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6B3A"/>
                          </a:solidFill>
                        </a:rPr>
                        <a:t>21.21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6B3A"/>
                          </a:solidFill>
                        </a:rPr>
                        <a:t>OhioT1DM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6B3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6B3A"/>
                          </a:solidFill>
                        </a:rPr>
                        <a:t>Our Autoencoder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6B3A"/>
                          </a:solidFill>
                        </a:rPr>
                        <a:t>21.41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6B3A"/>
                          </a:solidFill>
                        </a:rPr>
                        <a:t>OhioT1DM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6B3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6B3A"/>
                          </a:solidFill>
                        </a:rPr>
                        <a:t>Our Transformer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6B3A"/>
                          </a:solidFill>
                        </a:rPr>
                        <a:t>22.91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6B3A"/>
                          </a:solidFill>
                        </a:rPr>
                        <a:t>OhioT1DM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6B3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6B3A"/>
                          </a:solidFill>
                        </a:rPr>
                        <a:t>Our RF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6B3A"/>
                          </a:solidFill>
                        </a:rPr>
                        <a:t>23.35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6B3A"/>
                          </a:solidFill>
                        </a:rPr>
                        <a:t>OhioT1DM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6B3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2578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864"/>
                </a:solidFill>
              </a:rPr>
              <a:t>Grid Search reduced the gap by ~3 mg/dL vs. our previous run.  Gap to Xiong et al.: only 1.9 mg/dL — with 3 features vs. 5–6.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Blood Glucose Forecasting  |  University of Duisburg-Essen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56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45720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2344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Grid Search matters:  +2–3 mg/dL improvement over default parameters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11680"/>
            <a:ext cx="45720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1168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LSTM best at 30 min  (21.21 mg/dL),  Autoencoder essentially tied — only 1.7 mg/dL behind Xiong et 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88920"/>
            <a:ext cx="45720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788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7889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Tuned Transformer (22.91) now beats RF and TCN — was worse than both when untuned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66160"/>
            <a:ext cx="45720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5661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TCN still underperforms:  OhioT1DM is too small / window too short for TCN's advantage to show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343400"/>
            <a:ext cx="45720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4343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3434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More features hurt, not help:  on BOTH OhioT1DM and Glucdict, glucose_only/clinical beat every feature set that adds heartrate/steps — confirmed via RMSE and Clarke Zone A/D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120640"/>
            <a:ext cx="45720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5120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1206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Clarke Zone A ~87% (best models):  below 95% target — explainable by 3-feature input only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Blood Glucose Forecasting  |  University of Duisburg-Essen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56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14300" marL="228600">
              <a:buChar char="•"/>
            </a:pPr>
            <a:r>
              <a:rPr sz="2000">
                <a:solidFill>
                  <a:srgbClr val="000000"/>
                </a:solidFill>
              </a:rPr>
              <a:t>Glucdict-specific Grid Search  (currently reusing OhioT1DM hyperparameters)</a:t>
            </a:r>
          </a:p>
          <a:p>
            <a:pPr algn="l" indent="-114300" marL="228600">
              <a:buChar char="•"/>
            </a:pPr>
            <a:r>
              <a:rPr sz="2000">
                <a:solidFill>
                  <a:srgbClr val="000000"/>
                </a:solidFill>
              </a:rPr>
              <a:t>Investigate the User7 heart-rate outlier in Glucdict (RF RMSE 45 vs. cohort mean ~15)</a:t>
            </a:r>
          </a:p>
          <a:p>
            <a:pPr algn="l" indent="-114300" marL="228600">
              <a:buChar char="•"/>
            </a:pPr>
            <a:r>
              <a:rPr sz="2000">
                <a:solidFill>
                  <a:srgbClr val="000000"/>
                </a:solidFill>
              </a:rPr>
              <a:t>Explore longer window sizes  (24, 36, 72 steps)</a:t>
            </a:r>
          </a:p>
          <a:p>
            <a:pPr algn="l" indent="-114300" marL="228600">
              <a:buChar char="•"/>
            </a:pPr>
            <a:r>
              <a:rPr sz="2000">
                <a:solidFill>
                  <a:srgbClr val="000000"/>
                </a:solidFill>
              </a:rPr>
              <a:t>Investigate Leave-One-Patient-Out (LOPO) cross-validation</a:t>
            </a:r>
          </a:p>
          <a:p>
            <a:pPr algn="l" indent="-114300" marL="228600">
              <a:buChar char="•"/>
            </a:pPr>
            <a:r>
              <a:rPr sz="2000">
                <a:solidFill>
                  <a:srgbClr val="000000"/>
                </a:solidFill>
              </a:rPr>
              <a:t>Look for additional experiment setups from literature not yet covered</a:t>
            </a:r>
          </a:p>
          <a:p>
            <a:pPr algn="l" indent="-114300" marL="228600">
              <a:buChar char="•"/>
            </a:pPr>
            <a:r>
              <a:rPr sz="2000">
                <a:solidFill>
                  <a:srgbClr val="000000"/>
                </a:solidFill>
              </a:rPr>
              <a:t>Merge Abeer's BIG IDEAs results into the shared benchmark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