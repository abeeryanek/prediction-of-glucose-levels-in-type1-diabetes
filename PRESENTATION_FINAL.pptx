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864"/>
                </a:solidFill>
              </a:rPr>
              <a:t>Blood Glucose Forecasting —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E5496"/>
                </a:solidFill>
              </a:rPr>
              <a:t>University of Duisburg-Essen  |  Khalil &amp; Abeer  |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Completed This Two-Week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Implemented 5th model: Transformer  (Vaswani et al. 2017)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Integrated Glucdict dataset  (13 users, Dexcom G6 + TicWatch)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Fixed critical OhioT1DM 2020 cohort loader bug  (empty XML placeholder)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Expanded Grid Search to all 5 models with literature justification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Documented training epochs  (early stopping — varies per model/patient)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Feature ablation:  2020 cohort (acceleration) + clean 2018 (no 563+575)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Leave-One-Patient-Out cross-validation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Cross-dataset transfer learning  (OhioT1DM → Glucdict)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Preprocessing comparison table vs. literature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Detailed final experiments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Shared Repository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32588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589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Folder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src/preprocessing/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Dataset-specific loaders  (OhioT1DM XML, Glucdict CSV, BIG IDEAs parquet)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src/models/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RF, LSTM, Autoencoder, TCN, Transformer  — identical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src/training/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Pipeline, Walk-Forward splits, Grid Search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src/evaluation/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Metrics, Clarke Error Grid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experiments/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One notebook per dataset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864"/>
                </a:solidFill>
              </a:rPr>
              <a:t>All 5 models share identical train_model / evaluate interface.
Both datasets use the same pipeline, windowing, and evaluation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Grid Search: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Best parameters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Parameters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Literature Justification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n_estimators=200, max_depth=10, min_samples_leaf=4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Probst et al. 2019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hidden_size=128,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Kingma &amp; Ba 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latent_size=16,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Srivastava et al. 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num_filters=32,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Bai et al.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d_model=128, nhead=4,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Vaswani et al. 2017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23360"/>
            <a:ext cx="11430000" cy="7772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Grid Search used Walk-Forward Validation  (TimeSeriesSplit, n_splits=3)  on patient 559 — Cerqueira et al. (2020)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OhioT1DM Main Results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5 models, 3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3017520"/>
                <a:gridCol w="3017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5.87 ± 1.97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14.06 ± 4.14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23.35 ± 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5.79 ± 1.49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12.60 ± 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21.25 ± 3.48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6.41 ± 1.77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12.99 ± 2.57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21.45 ± 3.52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8.04 ± 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15.11 ± 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24.82 ± 3.65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8.47 ± 2.70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~14-15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23.01 ± 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5496"/>
                </a:solidFill>
              </a:rPr>
              <a:t>All values in mg/dL. 12 patients, clinical features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Clarke Error Grid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A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B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87.4 ± 4.6%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87.1 ± 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86.4 ± 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84.7 ± 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81.1 ± 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← high variance — unreliable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69080"/>
            <a:ext cx="6035040" cy="155448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4F00"/>
                </a:solidFill>
              </a:rPr>
              <a:t>Clinical target: &gt; 95% Zone A.
Gap explained by 3-feature input only.
TCN high std deviation indicates inconsistency across
patients — clinically concerning.</a:t>
            </a:r>
          </a:p>
        </p:txBody>
      </p:sp>
      <p:pic>
        <p:nvPicPr>
          <p:cNvPr id="10" name="Picture 9" descr="clarke_30min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34440"/>
            <a:ext cx="53035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Ablation: Wearable Features Consistently Hurt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2018
(6 patients, no 563+575)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21.69 / LSTM 20.51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21.70 / LSTM 20.76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clinical_hr: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26.59 / LSTM 24.85  ← worse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32.61 / LSTM 35.48  ←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2020
(6 patients, acceleration)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25.00 / LSTM 22.04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clinical_accel: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30.55 / LSTM 28.85  ← worse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Glucdict
(13 users)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15.23 / LSTM 14.03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full_wearable: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17.45 / LSTM 16.89  ← worse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92040"/>
            <a:ext cx="1152144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Across all 3 datasets and both cohorts: adding wearable signals consistently degrades 30-minute prediction.
The clinical minimum (glucose + insulin + carbs) is sufficient.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LOPO: Personalisation Barely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</a:rPr>
              <a:t>LOPO vs. Personalised  (30-min, OhioT1DM)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45920"/>
          <a:ext cx="603504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4630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LOPO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-0.54 (improves!)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+1.17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675120" y="1234440"/>
            <a:ext cx="5120640" cy="41148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B3A"/>
                </a:solidFill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A population model trained on 11 patients generalises almost as well as a personalised model for a new unseen patient.
RF actually improves with pooling — more data outweighs loss of patient-specificity.
Clinical implication: one deployed model could serve new patients without requiring 8 weeks of personalised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 Learning: Domain Shift Costs ~1-2 mg/dL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7315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Transfer 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16.67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+1.44 (+9%)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+1.92 (+14%)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063240"/>
            <a:ext cx="11430000" cy="13716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Trained on OhioT1DM  (T1DM, Medtronic Enlite CGM)
Tested zero-shot on Glucdict  (prediabetic, Dexcom G6 CGM)
Different population + different device = only +1-2 mg/dL penalty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617720"/>
            <a:ext cx="114300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Glucose autocorrelation is the dominant predictive signal regardless of patient population or device.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Glucdict: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glucose_only, 30-min horizon, 13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9.73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11.47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1463040"/>
            <a:ext cx="4754880" cy="27432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554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Transformer competitive with LSTM on Glucdict (unlike OhioT1DM).
Autoencoder best on BOTH datasets — consistent finding.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Literature Comparison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194560"/>
                <a:gridCol w="21945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RMSE [mg/dL]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MHA-NBEATS  (Kalita &amp; Mirza 2025)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16.57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Rodríguez-Rodríguez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Custom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Xiong et al. 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19.33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Autoencoder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Transformer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RF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TCN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24.82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669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3864"/>
                </a:solidFill>
              </a:rPr>
              <a:t>Gap to literature explained by reduced feature set (3 vs. 6-7). Grid Search reduced our gap by ~3 mg/dL vs. defaults.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Preprocessing Comparison vs. Literature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32004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Literature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CGM resampling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resample()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glucose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Mixed (drop/interp)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sensor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Interpolate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✗ Gap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Event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NaN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Normalization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 z-score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Train/test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Official 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Walk-forward CV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n_splits=3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0000"/>
                </a:solidFill>
              </a:rPr>
              <a:t>Main gap: we drop missing sensor rows instead of interpolating. Zhu et al. (2018) showed interpolation reduces RMSE by 2.1 mg/dL — planned for next iteration.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Scientific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258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WEARABLE FEATURES CONSISTENTLY HURT AT 30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74519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Observed across all 3 datasets and both cohorts.
Clinical minimum (glucose + insulin + carbs) is sufficient.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PERSONALISATION IS NOT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LOPO gap: only +1.17 mg/dL.
Population model nearly as good as personalised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TRANSFER ACROSS POPULATIONS COSTS ONLY ~2 mg/dL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T1DM → prediabetic, different device, zero retraining.
Glucose autocorrelation dominates regardless of domain.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Final Experiments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37744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Longer window sizes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45/60-min horizons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BIG IDEAs all 5 models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 (Abeer)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Unified Clarke EGA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Final report writing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